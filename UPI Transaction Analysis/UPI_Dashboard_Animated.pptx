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f4ecd64-e18a-8910-ea87-2d4eda462282}">
          <p14:sldIdLst>
            <p14:sldId id="256"/>
          </p14:sldIdLst>
        </p14:section>
        <p14:section name="Context" id="{36c0806a-30a1-31f7-11a5-dc73067dfdd5}">
          <p14:sldIdLst>
            <p14:sldId id="257"/>
            <p14:sldId id="258"/>
          </p14:sldIdLst>
        </p14:section>
        <p14:section name="Insights" id="{2271c110-172f-ae49-2527-3ec849b1850b}">
          <p14:sldIdLst>
            <p14:sldId id="259"/>
            <p14:sldId id="260"/>
            <p14:sldId id="261"/>
          </p14:sldIdLst>
        </p14:section>
        <p14:section name="Wrap-up" id="{71d727ac-1a46-2ff7-27d0-d65eff9469a6}">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UPI Transaction Analysis dashboard: the data behind it, the filters, the monthly view and the city and currency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has 20,000 UPI transactions for 2024, with 20 fields grouped here by who made the payment, how it was made and what it was for. Amounts are in four currencies, so the total mixes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slicers sit above the visuals. Any combination narrows the monthly chart and the table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smoothed line shows the total amount for each month. The buttons at the top right of the chart swap between line and column views and between amounts and remaining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Plotting the monthly totals from zero shows how flat the year is: the best month is only about 7% above the weakest. Values in thousands.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matrix of city by currency by month. Darker blue cells mark larger amounts and balances.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four takeaways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200" b="1" dirty="0">
                <a:solidFill>
                  <a:schemeClr val="tx1"/>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1000" dirty="0">
                <a:solidFill>
                  <a:schemeClr val="tx2"/>
                </a:solidFill>
              </a:rPr>
              <a:t>UPI Transaction Analysis  |  Power BI</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anim:1:fade:tag0"/>
          <p:cNvSpPr txBox="1"/>
          <p:nvPr/>
        </p:nvSpPr>
        <p:spPr>
          <a:xfrm>
            <a:off x="548640" y="822960"/>
            <a:ext cx="4023360" cy="365760"/>
          </a:xfrm>
          <a:prstGeom prst="rect">
            <a:avLst/>
          </a:prstGeom>
          <a:noFill/>
          <a:ln/>
        </p:spPr>
        <p:txBody>
          <a:bodyPr wrap="square" lIns="0" tIns="0" rIns="0" bIns="0" rtlCol="0" anchor="ctr"/>
          <a:lstStyle/>
          <a:p>
            <a:pPr indent="0" marL="0">
              <a:buNone/>
            </a:pPr>
            <a:r>
              <a:rPr lang="en-US" sz="1600" b="1" spc="400" kern="0" dirty="0">
                <a:solidFill>
                  <a:schemeClr val="accent3"/>
                </a:solidFill>
              </a:rPr>
              <a:t>POWER BI DASHBOARD</a:t>
            </a:r>
            <a:endParaRPr lang="en-US" sz="1600" dirty="0"/>
          </a:p>
        </p:txBody>
      </p:sp>
      <p:sp>
        <p:nvSpPr>
          <p:cNvPr id="3" name="anim:2:fade:title1"/>
          <p:cNvSpPr txBox="1"/>
          <p:nvPr/>
        </p:nvSpPr>
        <p:spPr>
          <a:xfrm>
            <a:off x="548640" y="1280160"/>
            <a:ext cx="4023360" cy="1463040"/>
          </a:xfrm>
          <a:prstGeom prst="rect">
            <a:avLst/>
          </a:prstGeom>
          <a:noFill/>
          <a:ln/>
        </p:spPr>
        <p:txBody>
          <a:bodyPr wrap="square" lIns="0" tIns="0" rIns="0" bIns="0" rtlCol="0" anchor="t"/>
          <a:lstStyle/>
          <a:p>
            <a:pPr indent="0" marL="0">
              <a:buNone/>
            </a:pPr>
            <a:r>
              <a:rPr lang="en-US" sz="3800" b="1" dirty="0">
                <a:solidFill>
                  <a:schemeClr val="bg1"/>
                </a:solidFill>
                <a:latin typeface="Cambria" pitchFamily="34" charset="0"/>
                <a:ea typeface="Cambria" pitchFamily="34" charset="-122"/>
                <a:cs typeface="Cambria" pitchFamily="34" charset="-120"/>
              </a:rPr>
              <a:t>UPI Transaction Analysis</a:t>
            </a:r>
            <a:endParaRPr lang="en-US" sz="3800" dirty="0"/>
          </a:p>
        </p:txBody>
      </p:sp>
      <p:sp>
        <p:nvSpPr>
          <p:cNvPr id="4" name="anim:3:fade:sub2"/>
          <p:cNvSpPr txBox="1"/>
          <p:nvPr/>
        </p:nvSpPr>
        <p:spPr>
          <a:xfrm>
            <a:off x="548640" y="2926080"/>
            <a:ext cx="3840480" cy="914400"/>
          </a:xfrm>
          <a:prstGeom prst="rect">
            <a:avLst/>
          </a:prstGeom>
          <a:noFill/>
          <a:ln/>
        </p:spPr>
        <p:txBody>
          <a:bodyPr wrap="square" lIns="0" tIns="0" rIns="0" bIns="0" rtlCol="0" anchor="t"/>
          <a:lstStyle/>
          <a:p>
            <a:pPr indent="0" marL="0">
              <a:buNone/>
            </a:pPr>
            <a:r>
              <a:rPr lang="en-US" sz="1600" dirty="0">
                <a:solidFill>
                  <a:schemeClr val="accent5"/>
                </a:solidFill>
              </a:rPr>
              <a:t>20,000 transactions across 4 cities and 4 banks, January to December 2024</a:t>
            </a:r>
            <a:endParaRPr lang="en-US" sz="1600" dirty="0"/>
          </a:p>
        </p:txBody>
      </p:sp>
      <p:sp>
        <p:nvSpPr>
          <p:cNvPr id="5" name="deco-circle"/>
          <p:cNvSpPr/>
          <p:nvPr/>
        </p:nvSpPr>
        <p:spPr>
          <a:xfrm>
            <a:off x="7589520" y="3383280"/>
            <a:ext cx="2377440" cy="2377440"/>
          </a:xfrm>
          <a:prstGeom prst="ellipse">
            <a:avLst/>
          </a:prstGeom>
          <a:solidFill>
            <a:schemeClr val="tx2"/>
          </a:solidFill>
          <a:ln w="12700">
            <a:solidFill>
              <a:schemeClr val="tx2"/>
            </a:solidFill>
            <a:prstDash val="solid"/>
          </a:ln>
        </p:spPr>
      </p:sp>
      <p:sp>
        <p:nvSpPr>
          <p:cNvPr id="6" name="anim:4:wipe:frame3"/>
          <p:cNvSpPr/>
          <p:nvPr/>
        </p:nvSpPr>
        <p:spPr>
          <a:xfrm>
            <a:off x="4590288" y="1298448"/>
            <a:ext cx="4352544" cy="2498438"/>
          </a:xfrm>
          <a:prstGeom prst="roundRect">
            <a:avLst>
              <a:gd name="adj" fmla="val 2928"/>
            </a:avLst>
          </a:prstGeom>
          <a:solidFill>
            <a:schemeClr val="bg1"/>
          </a:solidFill>
          <a:ln w="12700">
            <a:solidFill>
              <a:schemeClr val="accent5"/>
            </a:solidFill>
            <a:prstDash val="solid"/>
          </a:ln>
        </p:spPr>
      </p:sp>
      <p:pic>
        <p:nvPicPr>
          <p:cNvPr id="7" name="anim:4:wipe:dash4" descr="UPI dashboard overview">    </p:cNvPr>
          <p:cNvPicPr>
            <a:picLocks noChangeAspect="1"/>
          </p:cNvPicPr>
          <p:nvPr/>
        </p:nvPicPr>
        <p:blipFill>
          <a:blip r:embed="rId1"/>
          <a:stretch>
            <a:fillRect/>
          </a:stretch>
        </p:blipFill>
        <p:spPr>
          <a:xfrm>
            <a:off x="4663440" y="1371600"/>
            <a:ext cx="4206240" cy="2352134"/>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45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9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par>
                          <p:cTn id="16" fill="hold">
                            <p:stCondLst>
                              <p:cond delay="1350"/>
                            </p:stCondLst>
                            <p:childTnLst>
                              <p:par>
                                <p:cTn id="17" presetID="22" presetClass="entr" presetSubtype="8"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par>
                                <p:cTn id="20" presetID="22" presetClass="entr" presetSubtype="8"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The dataset at a glance</a:t>
            </a:r>
            <a:endParaRPr lang="en-US" sz="3200" dirty="0"/>
          </a:p>
        </p:txBody>
      </p:sp>
      <p:sp>
        <p:nvSpPr>
          <p:cNvPr id="3" name="anim:1:fade:kc5"/>
          <p:cNvSpPr/>
          <p:nvPr/>
        </p:nvSpPr>
        <p:spPr>
          <a:xfrm>
            <a:off x="457200" y="1188720"/>
            <a:ext cx="1874520" cy="1508760"/>
          </a:xfrm>
          <a:prstGeom prst="roundRect">
            <a:avLst>
              <a:gd name="adj" fmla="val 6061"/>
            </a:avLst>
          </a:prstGeom>
          <a:solidFill>
            <a:schemeClr val="bg2"/>
          </a:solidFill>
          <a:ln w="9525">
            <a:solidFill>
              <a:schemeClr val="bg2"/>
            </a:solidFill>
            <a:prstDash val="solid"/>
          </a:ln>
          <a:effectLst>
            <a:outerShdw sx="100000" sy="100000" kx="0" ky="0" algn="bl" rotWithShape="0" blurRad="101600" dist="25400" dir="5400000">
              <a:srgbClr val="000000">
                <a:alpha val="15000"/>
              </a:srgbClr>
            </a:outerShdw>
          </a:effectLst>
        </p:spPr>
      </p:sp>
      <p:sp>
        <p:nvSpPr>
          <p:cNvPr id="4" name="anim:1:fade:kv6"/>
          <p:cNvSpPr txBox="1"/>
          <p:nvPr/>
        </p:nvSpPr>
        <p:spPr>
          <a:xfrm>
            <a:off x="548640" y="1280160"/>
            <a:ext cx="1691640" cy="73152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20,000</a:t>
            </a:r>
            <a:endParaRPr lang="en-US" sz="3600" dirty="0"/>
          </a:p>
        </p:txBody>
      </p:sp>
      <p:sp>
        <p:nvSpPr>
          <p:cNvPr id="5" name="anim:1:fade:kl7"/>
          <p:cNvSpPr txBox="1"/>
          <p:nvPr/>
        </p:nvSpPr>
        <p:spPr>
          <a:xfrm>
            <a:off x="548640" y="2057400"/>
            <a:ext cx="1691640" cy="548640"/>
          </a:xfrm>
          <a:prstGeom prst="rect">
            <a:avLst/>
          </a:prstGeom>
          <a:noFill/>
          <a:ln/>
        </p:spPr>
        <p:txBody>
          <a:bodyPr wrap="square" lIns="0" tIns="0" rIns="0" bIns="0" rtlCol="0" anchor="t"/>
          <a:lstStyle/>
          <a:p>
            <a:pPr algn="ctr" indent="0" marL="0">
              <a:buNone/>
            </a:pPr>
            <a:r>
              <a:rPr lang="en-US" sz="1400" dirty="0">
                <a:solidFill>
                  <a:schemeClr val="tx1"/>
                </a:solidFill>
              </a:rPr>
              <a:t>Transactions</a:t>
            </a:r>
            <a:endParaRPr lang="en-US" sz="1400" dirty="0"/>
          </a:p>
        </p:txBody>
      </p:sp>
      <p:sp>
        <p:nvSpPr>
          <p:cNvPr id="6" name="anim:2:fade:kc8"/>
          <p:cNvSpPr/>
          <p:nvPr/>
        </p:nvSpPr>
        <p:spPr>
          <a:xfrm>
            <a:off x="2514600" y="1188720"/>
            <a:ext cx="1874520" cy="1508760"/>
          </a:xfrm>
          <a:prstGeom prst="roundRect">
            <a:avLst>
              <a:gd name="adj" fmla="val 6061"/>
            </a:avLst>
          </a:prstGeom>
          <a:solidFill>
            <a:schemeClr val="bg2"/>
          </a:solidFill>
          <a:ln w="9525">
            <a:solidFill>
              <a:schemeClr val="bg2"/>
            </a:solidFill>
            <a:prstDash val="solid"/>
          </a:ln>
          <a:effectLst>
            <a:outerShdw sx="100000" sy="100000" kx="0" ky="0" algn="bl" rotWithShape="0" blurRad="101600" dist="25400" dir="5400000">
              <a:srgbClr val="000000">
                <a:alpha val="15000"/>
              </a:srgbClr>
            </a:outerShdw>
          </a:effectLst>
        </p:spPr>
      </p:sp>
      <p:sp>
        <p:nvSpPr>
          <p:cNvPr id="7" name="anim:2:fade:kv9"/>
          <p:cNvSpPr txBox="1"/>
          <p:nvPr/>
        </p:nvSpPr>
        <p:spPr>
          <a:xfrm>
            <a:off x="2606040" y="1280160"/>
            <a:ext cx="1691640" cy="731520"/>
          </a:xfrm>
          <a:prstGeom prst="rect">
            <a:avLst/>
          </a:prstGeom>
          <a:noFill/>
          <a:ln/>
        </p:spPr>
        <p:txBody>
          <a:bodyPr wrap="square" lIns="0" tIns="0" rIns="0" bIns="0" rtlCol="0" anchor="ctr"/>
          <a:lstStyle/>
          <a:p>
            <a:pPr algn="ctr" indent="0" marL="0">
              <a:buNone/>
            </a:pPr>
            <a:r>
              <a:rPr lang="en-US" sz="3600" b="1" dirty="0">
                <a:solidFill>
                  <a:schemeClr val="accent2"/>
                </a:solidFill>
                <a:latin typeface="Cambria" pitchFamily="34" charset="0"/>
                <a:ea typeface="Cambria" pitchFamily="34" charset="-122"/>
                <a:cs typeface="Cambria" pitchFamily="34" charset="-120"/>
              </a:rPr>
              <a:t>19.9M</a:t>
            </a:r>
            <a:endParaRPr lang="en-US" sz="3600" dirty="0"/>
          </a:p>
        </p:txBody>
      </p:sp>
      <p:sp>
        <p:nvSpPr>
          <p:cNvPr id="8" name="anim:2:fade:kl10"/>
          <p:cNvSpPr txBox="1"/>
          <p:nvPr/>
        </p:nvSpPr>
        <p:spPr>
          <a:xfrm>
            <a:off x="2606040" y="2057400"/>
            <a:ext cx="1691640" cy="548640"/>
          </a:xfrm>
          <a:prstGeom prst="rect">
            <a:avLst/>
          </a:prstGeom>
          <a:noFill/>
          <a:ln/>
        </p:spPr>
        <p:txBody>
          <a:bodyPr wrap="square" lIns="0" tIns="0" rIns="0" bIns="0" rtlCol="0" anchor="t"/>
          <a:lstStyle/>
          <a:p>
            <a:pPr algn="ctr" indent="0" marL="0">
              <a:buNone/>
            </a:pPr>
            <a:r>
              <a:rPr lang="en-US" sz="1400" dirty="0">
                <a:solidFill>
                  <a:schemeClr val="tx1"/>
                </a:solidFill>
              </a:rPr>
              <a:t>Total amount (all currencies)</a:t>
            </a:r>
            <a:endParaRPr lang="en-US" sz="1400" dirty="0"/>
          </a:p>
        </p:txBody>
      </p:sp>
      <p:sp>
        <p:nvSpPr>
          <p:cNvPr id="9" name="anim:3:fade:kc11"/>
          <p:cNvSpPr/>
          <p:nvPr/>
        </p:nvSpPr>
        <p:spPr>
          <a:xfrm>
            <a:off x="4572000" y="1188720"/>
            <a:ext cx="1874520" cy="1508760"/>
          </a:xfrm>
          <a:prstGeom prst="roundRect">
            <a:avLst>
              <a:gd name="adj" fmla="val 6061"/>
            </a:avLst>
          </a:prstGeom>
          <a:solidFill>
            <a:schemeClr val="bg2"/>
          </a:solidFill>
          <a:ln w="9525">
            <a:solidFill>
              <a:schemeClr val="bg2"/>
            </a:solidFill>
            <a:prstDash val="solid"/>
          </a:ln>
          <a:effectLst>
            <a:outerShdw sx="100000" sy="100000" kx="0" ky="0" algn="bl" rotWithShape="0" blurRad="101600" dist="25400" dir="5400000">
              <a:srgbClr val="000000">
                <a:alpha val="15000"/>
              </a:srgbClr>
            </a:outerShdw>
          </a:effectLst>
        </p:spPr>
      </p:sp>
      <p:sp>
        <p:nvSpPr>
          <p:cNvPr id="10" name="anim:3:fade:kv12"/>
          <p:cNvSpPr txBox="1"/>
          <p:nvPr/>
        </p:nvSpPr>
        <p:spPr>
          <a:xfrm>
            <a:off x="4663440" y="1280160"/>
            <a:ext cx="1691640" cy="731520"/>
          </a:xfrm>
          <a:prstGeom prst="rect">
            <a:avLst/>
          </a:prstGeom>
          <a:noFill/>
          <a:ln/>
        </p:spPr>
        <p:txBody>
          <a:bodyPr wrap="square" lIns="0" tIns="0" rIns="0" bIns="0" rtlCol="0" anchor="ctr"/>
          <a:lstStyle/>
          <a:p>
            <a:pPr algn="ctr" indent="0" marL="0">
              <a:buNone/>
            </a:pPr>
            <a:r>
              <a:rPr lang="en-US" sz="3600" b="1" dirty="0">
                <a:solidFill>
                  <a:schemeClr val="accent6"/>
                </a:solidFill>
                <a:latin typeface="Cambria" pitchFamily="34" charset="0"/>
                <a:ea typeface="Cambria" pitchFamily="34" charset="-122"/>
                <a:cs typeface="Cambria" pitchFamily="34" charset="-120"/>
              </a:rPr>
              <a:t>994</a:t>
            </a:r>
            <a:endParaRPr lang="en-US" sz="3600" dirty="0"/>
          </a:p>
        </p:txBody>
      </p:sp>
      <p:sp>
        <p:nvSpPr>
          <p:cNvPr id="11" name="anim:3:fade:kl13"/>
          <p:cNvSpPr txBox="1"/>
          <p:nvPr/>
        </p:nvSpPr>
        <p:spPr>
          <a:xfrm>
            <a:off x="4663440" y="2057400"/>
            <a:ext cx="1691640" cy="548640"/>
          </a:xfrm>
          <a:prstGeom prst="rect">
            <a:avLst/>
          </a:prstGeom>
          <a:noFill/>
          <a:ln/>
        </p:spPr>
        <p:txBody>
          <a:bodyPr wrap="square" lIns="0" tIns="0" rIns="0" bIns="0" rtlCol="0" anchor="t"/>
          <a:lstStyle/>
          <a:p>
            <a:pPr algn="ctr" indent="0" marL="0">
              <a:buNone/>
            </a:pPr>
            <a:r>
              <a:rPr lang="en-US" sz="1400" dirty="0">
                <a:solidFill>
                  <a:schemeClr val="tx1"/>
                </a:solidFill>
              </a:rPr>
              <a:t>Average amount</a:t>
            </a:r>
            <a:endParaRPr lang="en-US" sz="1400" dirty="0"/>
          </a:p>
        </p:txBody>
      </p:sp>
      <p:sp>
        <p:nvSpPr>
          <p:cNvPr id="12" name="anim:4:fade:kc14"/>
          <p:cNvSpPr/>
          <p:nvPr/>
        </p:nvSpPr>
        <p:spPr>
          <a:xfrm>
            <a:off x="6629400" y="1188720"/>
            <a:ext cx="1874520" cy="1508760"/>
          </a:xfrm>
          <a:prstGeom prst="roundRect">
            <a:avLst>
              <a:gd name="adj" fmla="val 6061"/>
            </a:avLst>
          </a:prstGeom>
          <a:solidFill>
            <a:schemeClr val="bg2"/>
          </a:solidFill>
          <a:ln w="9525">
            <a:solidFill>
              <a:schemeClr val="bg2"/>
            </a:solidFill>
            <a:prstDash val="solid"/>
          </a:ln>
          <a:effectLst>
            <a:outerShdw sx="100000" sy="100000" kx="0" ky="0" algn="bl" rotWithShape="0" blurRad="101600" dist="25400" dir="5400000">
              <a:srgbClr val="000000">
                <a:alpha val="15000"/>
              </a:srgbClr>
            </a:outerShdw>
          </a:effectLst>
        </p:spPr>
      </p:sp>
      <p:sp>
        <p:nvSpPr>
          <p:cNvPr id="13" name="anim:4:fade:kv15"/>
          <p:cNvSpPr txBox="1"/>
          <p:nvPr/>
        </p:nvSpPr>
        <p:spPr>
          <a:xfrm>
            <a:off x="6720840" y="1280160"/>
            <a:ext cx="1691640" cy="731520"/>
          </a:xfrm>
          <a:prstGeom prst="rect">
            <a:avLst/>
          </a:prstGeom>
          <a:noFill/>
          <a:ln/>
        </p:spPr>
        <p:txBody>
          <a:bodyPr wrap="square" lIns="0" tIns="0" rIns="0" bIns="0" rtlCol="0" anchor="ctr"/>
          <a:lstStyle/>
          <a:p>
            <a:pPr algn="ctr" indent="0" marL="0">
              <a:buNone/>
            </a:pPr>
            <a:r>
              <a:rPr lang="en-US" sz="3600" b="1" dirty="0">
                <a:solidFill>
                  <a:schemeClr val="accent4"/>
                </a:solidFill>
                <a:latin typeface="Cambria" pitchFamily="34" charset="0"/>
                <a:ea typeface="Cambria" pitchFamily="34" charset="-122"/>
                <a:cs typeface="Cambria" pitchFamily="34" charset="-120"/>
              </a:rPr>
              <a:t>80%</a:t>
            </a:r>
            <a:endParaRPr lang="en-US" sz="3600" dirty="0"/>
          </a:p>
        </p:txBody>
      </p:sp>
      <p:sp>
        <p:nvSpPr>
          <p:cNvPr id="14" name="anim:4:fade:kl16"/>
          <p:cNvSpPr txBox="1"/>
          <p:nvPr/>
        </p:nvSpPr>
        <p:spPr>
          <a:xfrm>
            <a:off x="6720840" y="2057400"/>
            <a:ext cx="1691640" cy="548640"/>
          </a:xfrm>
          <a:prstGeom prst="rect">
            <a:avLst/>
          </a:prstGeom>
          <a:noFill/>
          <a:ln/>
        </p:spPr>
        <p:txBody>
          <a:bodyPr wrap="square" lIns="0" tIns="0" rIns="0" bIns="0" rtlCol="0" anchor="t"/>
          <a:lstStyle/>
          <a:p>
            <a:pPr algn="ctr" indent="0" marL="0">
              <a:buNone/>
            </a:pPr>
            <a:r>
              <a:rPr lang="en-US" sz="1400" dirty="0">
                <a:solidFill>
                  <a:schemeClr val="tx1"/>
                </a:solidFill>
              </a:rPr>
              <a:t>Success rate (16,000)</a:t>
            </a:r>
            <a:endParaRPr lang="en-US" sz="1400" dirty="0"/>
          </a:p>
        </p:txBody>
      </p:sp>
      <p:sp>
        <p:nvSpPr>
          <p:cNvPr id="15" name="anim:5:fade:gc17"/>
          <p:cNvSpPr/>
          <p:nvPr/>
        </p:nvSpPr>
        <p:spPr>
          <a:xfrm>
            <a:off x="457200" y="3017520"/>
            <a:ext cx="2651760" cy="1600200"/>
          </a:xfrm>
          <a:prstGeom prst="roundRect">
            <a:avLst>
              <a:gd name="adj" fmla="val 5714"/>
            </a:avLst>
          </a:prstGeom>
          <a:solidFill>
            <a:schemeClr val="bg1"/>
          </a:solidFill>
          <a:ln w="9525">
            <a:solidFill>
              <a:schemeClr val="accent5"/>
            </a:solidFill>
            <a:prstDash val="solid"/>
          </a:ln>
          <a:effectLst>
            <a:outerShdw sx="100000" sy="100000" kx="0" ky="0" algn="bl" rotWithShape="0" blurRad="101600" dist="25400" dir="5400000">
              <a:srgbClr val="000000">
                <a:alpha val="15000"/>
              </a:srgbClr>
            </a:outerShdw>
          </a:effectLst>
        </p:spPr>
      </p:sp>
      <p:sp>
        <p:nvSpPr>
          <p:cNvPr id="16" name="anim:5:fade:gt18"/>
          <p:cNvSpPr txBox="1"/>
          <p:nvPr/>
        </p:nvSpPr>
        <p:spPr>
          <a:xfrm>
            <a:off x="594360" y="3108960"/>
            <a:ext cx="2377440" cy="1417320"/>
          </a:xfrm>
          <a:prstGeom prst="rect">
            <a:avLst/>
          </a:prstGeom>
          <a:noFill/>
          <a:ln/>
        </p:spPr>
        <p:txBody>
          <a:bodyPr wrap="square" lIns="0" tIns="0" rIns="0" bIns="0" rtlCol="0" anchor="t"/>
          <a:lstStyle/>
          <a:p>
            <a:pPr indent="0" marL="0">
              <a:buNone/>
            </a:pPr>
            <a:r>
              <a:rPr lang="en-US" sz="1600" b="1" dirty="0">
                <a:solidFill>
                  <a:schemeClr val="accent1"/>
                </a:solidFill>
              </a:rPr>
              <a:t>Who</a:t>
            </a:r>
            <a:endParaRPr lang="en-US" sz="1600" dirty="0"/>
          </a:p>
          <a:p>
            <a:pPr indent="0" marL="0">
              <a:buNone/>
            </a:pPr>
            <a:r>
              <a:rPr lang="en-US" sz="1400" dirty="0">
                <a:solidFill>
                  <a:schemeClr val="tx1"/>
                </a:solidFill>
              </a:rPr>
              <a:t>City, Gender, CustomerAge, account numbers</a:t>
            </a:r>
            <a:endParaRPr lang="en-US" sz="1600" dirty="0"/>
          </a:p>
        </p:txBody>
      </p:sp>
      <p:sp>
        <p:nvSpPr>
          <p:cNvPr id="17" name="anim:6:fade:gc19"/>
          <p:cNvSpPr/>
          <p:nvPr/>
        </p:nvSpPr>
        <p:spPr>
          <a:xfrm>
            <a:off x="3246120" y="3017520"/>
            <a:ext cx="2651760" cy="1600200"/>
          </a:xfrm>
          <a:prstGeom prst="roundRect">
            <a:avLst>
              <a:gd name="adj" fmla="val 5714"/>
            </a:avLst>
          </a:prstGeom>
          <a:solidFill>
            <a:schemeClr val="bg1"/>
          </a:solidFill>
          <a:ln w="9525">
            <a:solidFill>
              <a:schemeClr val="accent5"/>
            </a:solidFill>
            <a:prstDash val="solid"/>
          </a:ln>
          <a:effectLst>
            <a:outerShdw sx="100000" sy="100000" kx="0" ky="0" algn="bl" rotWithShape="0" blurRad="101600" dist="25400" dir="5400000">
              <a:srgbClr val="000000">
                <a:alpha val="15000"/>
              </a:srgbClr>
            </a:outerShdw>
          </a:effectLst>
        </p:spPr>
      </p:sp>
      <p:sp>
        <p:nvSpPr>
          <p:cNvPr id="18" name="anim:6:fade:gt20"/>
          <p:cNvSpPr txBox="1"/>
          <p:nvPr/>
        </p:nvSpPr>
        <p:spPr>
          <a:xfrm>
            <a:off x="3383280" y="3108960"/>
            <a:ext cx="2377440" cy="1417320"/>
          </a:xfrm>
          <a:prstGeom prst="rect">
            <a:avLst/>
          </a:prstGeom>
          <a:noFill/>
          <a:ln/>
        </p:spPr>
        <p:txBody>
          <a:bodyPr wrap="square" lIns="0" tIns="0" rIns="0" bIns="0" rtlCol="0" anchor="t"/>
          <a:lstStyle/>
          <a:p>
            <a:pPr indent="0" marL="0">
              <a:buNone/>
            </a:pPr>
            <a:r>
              <a:rPr lang="en-US" sz="1600" b="1" dirty="0">
                <a:solidFill>
                  <a:schemeClr val="accent1"/>
                </a:solidFill>
              </a:rPr>
              <a:t>How</a:t>
            </a:r>
            <a:endParaRPr lang="en-US" sz="1600" dirty="0"/>
          </a:p>
          <a:p>
            <a:pPr indent="0" marL="0">
              <a:buNone/>
            </a:pPr>
            <a:r>
              <a:rPr lang="en-US" sz="1400" dirty="0">
                <a:solidFill>
                  <a:schemeClr val="tx1"/>
                </a:solidFill>
              </a:rPr>
              <a:t>DeviceType, PaymentMethod, PaymentMode, TransactionType</a:t>
            </a:r>
            <a:endParaRPr lang="en-US" sz="1600" dirty="0"/>
          </a:p>
        </p:txBody>
      </p:sp>
      <p:sp>
        <p:nvSpPr>
          <p:cNvPr id="19" name="anim:7:fade:gc21"/>
          <p:cNvSpPr/>
          <p:nvPr/>
        </p:nvSpPr>
        <p:spPr>
          <a:xfrm>
            <a:off x="6035040" y="3017520"/>
            <a:ext cx="2651760" cy="1600200"/>
          </a:xfrm>
          <a:prstGeom prst="roundRect">
            <a:avLst>
              <a:gd name="adj" fmla="val 5714"/>
            </a:avLst>
          </a:prstGeom>
          <a:solidFill>
            <a:schemeClr val="bg1"/>
          </a:solidFill>
          <a:ln w="9525">
            <a:solidFill>
              <a:schemeClr val="accent5"/>
            </a:solidFill>
            <a:prstDash val="solid"/>
          </a:ln>
          <a:effectLst>
            <a:outerShdw sx="100000" sy="100000" kx="0" ky="0" algn="bl" rotWithShape="0" blurRad="101600" dist="25400" dir="5400000">
              <a:srgbClr val="000000">
                <a:alpha val="15000"/>
              </a:srgbClr>
            </a:outerShdw>
          </a:effectLst>
        </p:spPr>
      </p:sp>
      <p:sp>
        <p:nvSpPr>
          <p:cNvPr id="20" name="anim:7:fade:gt22"/>
          <p:cNvSpPr txBox="1"/>
          <p:nvPr/>
        </p:nvSpPr>
        <p:spPr>
          <a:xfrm>
            <a:off x="6172200" y="3108960"/>
            <a:ext cx="2377440" cy="1417320"/>
          </a:xfrm>
          <a:prstGeom prst="rect">
            <a:avLst/>
          </a:prstGeom>
          <a:noFill/>
          <a:ln/>
        </p:spPr>
        <p:txBody>
          <a:bodyPr wrap="square" lIns="0" tIns="0" rIns="0" bIns="0" rtlCol="0" anchor="t"/>
          <a:lstStyle/>
          <a:p>
            <a:pPr indent="0" marL="0">
              <a:buNone/>
            </a:pPr>
            <a:r>
              <a:rPr lang="en-US" sz="1600" b="1" dirty="0">
                <a:solidFill>
                  <a:schemeClr val="accent1"/>
                </a:solidFill>
              </a:rPr>
              <a:t>What</a:t>
            </a:r>
            <a:endParaRPr lang="en-US" sz="1600" dirty="0"/>
          </a:p>
          <a:p>
            <a:pPr indent="0" marL="0">
              <a:buNone/>
            </a:pPr>
            <a:r>
              <a:rPr lang="en-US" sz="1400" dirty="0">
                <a:solidFill>
                  <a:schemeClr val="tx1"/>
                </a:solidFill>
              </a:rPr>
              <a:t>Amount, RemainingBalance, Status, Merchant, Purpose, banks, Currency</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par>
                          <p:cTn id="14" fill="hold">
                            <p:stCondLst>
                              <p:cond delay="450"/>
                            </p:stCondLst>
                            <p:childTnLst>
                              <p:par>
                                <p:cTn id="15" presetID="10" presetClass="entr" presetSubtype="0"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par>
                          <p:cTn id="24" fill="hold">
                            <p:stCondLst>
                              <p:cond delay="900"/>
                            </p:stCondLst>
                            <p:childTnLst>
                              <p:par>
                                <p:cTn id="25" presetID="10" presetClass="entr" presetSubtype="0"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par>
                          <p:cTn id="34" fill="hold">
                            <p:stCondLst>
                              <p:cond delay="1350"/>
                            </p:stCondLst>
                            <p:childTnLst>
                              <p:par>
                                <p:cTn id="35" presetID="10" presetClass="entr" presetSubtype="0" fill="hold" grpId="0" nodeType="after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childTnLst>
                          </p:cTn>
                        </p:par>
                        <p:par>
                          <p:cTn id="44" fill="hold">
                            <p:stCondLst>
                              <p:cond delay="1800"/>
                            </p:stCondLst>
                            <p:childTnLst>
                              <p:par>
                                <p:cTn id="45" presetID="10" presetClass="entr" presetSubtype="0" fill="hold" grpId="0"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childTnLst>
                          </p:cTn>
                        </p:par>
                        <p:par>
                          <p:cTn id="51" fill="hold">
                            <p:stCondLst>
                              <p:cond delay="2250"/>
                            </p:stCondLst>
                            <p:childTnLst>
                              <p:par>
                                <p:cTn id="52" presetID="10" presetClass="entr" presetSubtype="0" fill="hold" grpId="0" nodeType="after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500"/>
                                        <p:tgtEl>
                                          <p:spTgt spid="1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childTnLst>
                          </p:cTn>
                        </p:par>
                        <p:par>
                          <p:cTn id="58" fill="hold">
                            <p:stCondLst>
                              <p:cond delay="2700"/>
                            </p:stCondLst>
                            <p:childTnLst>
                              <p:par>
                                <p:cTn id="59" presetID="10" presetClass="entr" presetSubtype="0" fill="hold" grpId="0" nodeType="after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500"/>
                                        <p:tgtEl>
                                          <p:spTgt spid="1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Ten slicers filter every view</a:t>
            </a:r>
            <a:endParaRPr lang="en-US" sz="3200" dirty="0"/>
          </a:p>
        </p:txBody>
      </p:sp>
      <p:sp>
        <p:nvSpPr>
          <p:cNvPr id="3" name="anim:1:wipe:slicers23-frame"/>
          <p:cNvSpPr/>
          <p:nvPr/>
        </p:nvSpPr>
        <p:spPr>
          <a:xfrm>
            <a:off x="402336" y="1133856"/>
            <a:ext cx="8339328" cy="1495024"/>
          </a:xfrm>
          <a:prstGeom prst="roundRect">
            <a:avLst>
              <a:gd name="adj" fmla="val 3670"/>
            </a:avLst>
          </a:prstGeom>
          <a:solidFill>
            <a:schemeClr val="bg1"/>
          </a:solidFill>
          <a:ln w="12700">
            <a:solidFill>
              <a:schemeClr val="accent5"/>
            </a:solidFill>
            <a:prstDash val="solid"/>
          </a:ln>
          <a:effectLst>
            <a:outerShdw sx="100000" sy="100000" kx="0" ky="0" algn="bl" rotWithShape="0" blurRad="101600" dist="25400" dir="5400000">
              <a:srgbClr val="000000">
                <a:alpha val="15000"/>
              </a:srgbClr>
            </a:outerShdw>
          </a:effectLst>
        </p:spPr>
      </p:sp>
      <p:pic>
        <p:nvPicPr>
          <p:cNvPr id="4" name="anim:1:wipe:slicers23" descr="anim:1:wipe:slicers23">    </p:cNvPr>
          <p:cNvPicPr>
            <a:picLocks noChangeAspect="1"/>
          </p:cNvPicPr>
          <p:nvPr/>
        </p:nvPicPr>
        <p:blipFill>
          <a:blip r:embed="rId1"/>
          <a:stretch>
            <a:fillRect/>
          </a:stretch>
        </p:blipFill>
        <p:spPr>
          <a:xfrm>
            <a:off x="457200" y="1188720"/>
            <a:ext cx="8229600" cy="1385296"/>
          </a:xfrm>
          <a:prstGeom prst="rect">
            <a:avLst/>
          </a:prstGeom>
        </p:spPr>
      </p:pic>
      <p:sp>
        <p:nvSpPr>
          <p:cNvPr id="5" name="anim:2:fade:chip24"/>
          <p:cNvSpPr txBox="1"/>
          <p:nvPr/>
        </p:nvSpPr>
        <p:spPr>
          <a:xfrm>
            <a:off x="457200" y="3017520"/>
            <a:ext cx="1554480" cy="594360"/>
          </a:xfrm>
          <a:prstGeom prst="roundRect">
            <a:avLst>
              <a:gd name="adj" fmla="val 15385"/>
            </a:avLst>
          </a:prstGeom>
          <a:solidFill>
            <a:schemeClr val="bg2"/>
          </a:solidFill>
          <a:ln w="12700">
            <a:solidFill>
              <a:schemeClr val="accent5"/>
            </a:solidFill>
          </a:ln>
        </p:spPr>
        <p:txBody>
          <a:bodyPr wrap="square" lIns="381" tIns="381" rIns="381" bIns="381" rtlCol="0" anchor="ctr"/>
          <a:lstStyle/>
          <a:p>
            <a:pPr algn="ctr" indent="0" marL="0">
              <a:buNone/>
            </a:pPr>
            <a:r>
              <a:rPr lang="en-US" sz="1400" b="1" dirty="0">
                <a:solidFill>
                  <a:schemeClr val="tx1"/>
                </a:solidFill>
              </a:rPr>
              <a:t>Bank Sent</a:t>
            </a:r>
            <a:endParaRPr lang="en-US" sz="1400" dirty="0"/>
          </a:p>
        </p:txBody>
      </p:sp>
      <p:sp>
        <p:nvSpPr>
          <p:cNvPr id="6" name="anim:3:fade:chip25"/>
          <p:cNvSpPr txBox="1"/>
          <p:nvPr/>
        </p:nvSpPr>
        <p:spPr>
          <a:xfrm>
            <a:off x="2103120" y="3017520"/>
            <a:ext cx="1554480" cy="594360"/>
          </a:xfrm>
          <a:prstGeom prst="roundRect">
            <a:avLst>
              <a:gd name="adj" fmla="val 15385"/>
            </a:avLst>
          </a:prstGeom>
          <a:solidFill>
            <a:schemeClr val="bg2"/>
          </a:solidFill>
          <a:ln w="12700">
            <a:solidFill>
              <a:schemeClr val="accent5"/>
            </a:solidFill>
          </a:ln>
        </p:spPr>
        <p:txBody>
          <a:bodyPr wrap="square" lIns="381" tIns="381" rIns="381" bIns="381" rtlCol="0" anchor="ctr"/>
          <a:lstStyle/>
          <a:p>
            <a:pPr algn="ctr" indent="0" marL="0">
              <a:buNone/>
            </a:pPr>
            <a:r>
              <a:rPr lang="en-US" sz="1400" b="1" dirty="0">
                <a:solidFill>
                  <a:schemeClr val="tx1"/>
                </a:solidFill>
              </a:rPr>
              <a:t>Bank Received</a:t>
            </a:r>
            <a:endParaRPr lang="en-US" sz="1400" dirty="0"/>
          </a:p>
        </p:txBody>
      </p:sp>
      <p:sp>
        <p:nvSpPr>
          <p:cNvPr id="7" name="anim:4:fade:chip26"/>
          <p:cNvSpPr txBox="1"/>
          <p:nvPr/>
        </p:nvSpPr>
        <p:spPr>
          <a:xfrm>
            <a:off x="3749040" y="3017520"/>
            <a:ext cx="1554480" cy="594360"/>
          </a:xfrm>
          <a:prstGeom prst="roundRect">
            <a:avLst>
              <a:gd name="adj" fmla="val 15385"/>
            </a:avLst>
          </a:prstGeom>
          <a:solidFill>
            <a:schemeClr val="bg2"/>
          </a:solidFill>
          <a:ln w="12700">
            <a:solidFill>
              <a:schemeClr val="accent5"/>
            </a:solidFill>
          </a:ln>
        </p:spPr>
        <p:txBody>
          <a:bodyPr wrap="square" lIns="381" tIns="381" rIns="381" bIns="381" rtlCol="0" anchor="ctr"/>
          <a:lstStyle/>
          <a:p>
            <a:pPr algn="ctr" indent="0" marL="0">
              <a:buNone/>
            </a:pPr>
            <a:r>
              <a:rPr lang="en-US" sz="1400" b="1" dirty="0">
                <a:solidFill>
                  <a:schemeClr val="tx1"/>
                </a:solidFill>
              </a:rPr>
              <a:t>City</a:t>
            </a:r>
            <a:endParaRPr lang="en-US" sz="1400" dirty="0"/>
          </a:p>
        </p:txBody>
      </p:sp>
      <p:sp>
        <p:nvSpPr>
          <p:cNvPr id="8" name="anim:5:fade:chip27"/>
          <p:cNvSpPr txBox="1"/>
          <p:nvPr/>
        </p:nvSpPr>
        <p:spPr>
          <a:xfrm>
            <a:off x="5394960" y="3017520"/>
            <a:ext cx="1554480" cy="594360"/>
          </a:xfrm>
          <a:prstGeom prst="roundRect">
            <a:avLst>
              <a:gd name="adj" fmla="val 15385"/>
            </a:avLst>
          </a:prstGeom>
          <a:solidFill>
            <a:schemeClr val="bg2"/>
          </a:solidFill>
          <a:ln w="12700">
            <a:solidFill>
              <a:schemeClr val="accent5"/>
            </a:solidFill>
          </a:ln>
        </p:spPr>
        <p:txBody>
          <a:bodyPr wrap="square" lIns="381" tIns="381" rIns="381" bIns="381" rtlCol="0" anchor="ctr"/>
          <a:lstStyle/>
          <a:p>
            <a:pPr algn="ctr" indent="0" marL="0">
              <a:buNone/>
            </a:pPr>
            <a:r>
              <a:rPr lang="en-US" sz="1400" b="1" dirty="0">
                <a:solidFill>
                  <a:schemeClr val="tx1"/>
                </a:solidFill>
              </a:rPr>
              <a:t>Device Type</a:t>
            </a:r>
            <a:endParaRPr lang="en-US" sz="1400" dirty="0"/>
          </a:p>
        </p:txBody>
      </p:sp>
      <p:sp>
        <p:nvSpPr>
          <p:cNvPr id="9" name="anim:6:fade:chip28"/>
          <p:cNvSpPr txBox="1"/>
          <p:nvPr/>
        </p:nvSpPr>
        <p:spPr>
          <a:xfrm>
            <a:off x="7040880" y="3017520"/>
            <a:ext cx="1554480" cy="594360"/>
          </a:xfrm>
          <a:prstGeom prst="roundRect">
            <a:avLst>
              <a:gd name="adj" fmla="val 15385"/>
            </a:avLst>
          </a:prstGeom>
          <a:solidFill>
            <a:schemeClr val="bg2"/>
          </a:solidFill>
          <a:ln w="12700">
            <a:solidFill>
              <a:schemeClr val="accent5"/>
            </a:solidFill>
          </a:ln>
        </p:spPr>
        <p:txBody>
          <a:bodyPr wrap="square" lIns="381" tIns="381" rIns="381" bIns="381" rtlCol="0" anchor="ctr"/>
          <a:lstStyle/>
          <a:p>
            <a:pPr algn="ctr" indent="0" marL="0">
              <a:buNone/>
            </a:pPr>
            <a:r>
              <a:rPr lang="en-US" sz="1400" b="1" dirty="0">
                <a:solidFill>
                  <a:schemeClr val="tx1"/>
                </a:solidFill>
              </a:rPr>
              <a:t>Gender</a:t>
            </a:r>
            <a:endParaRPr lang="en-US" sz="1400" dirty="0"/>
          </a:p>
        </p:txBody>
      </p:sp>
      <p:sp>
        <p:nvSpPr>
          <p:cNvPr id="10" name="anim:7:fade:chip29"/>
          <p:cNvSpPr txBox="1"/>
          <p:nvPr/>
        </p:nvSpPr>
        <p:spPr>
          <a:xfrm>
            <a:off x="457200" y="3794760"/>
            <a:ext cx="1554480" cy="594360"/>
          </a:xfrm>
          <a:prstGeom prst="roundRect">
            <a:avLst>
              <a:gd name="adj" fmla="val 15385"/>
            </a:avLst>
          </a:prstGeom>
          <a:solidFill>
            <a:schemeClr val="bg2"/>
          </a:solidFill>
          <a:ln w="12700">
            <a:solidFill>
              <a:schemeClr val="accent5"/>
            </a:solidFill>
          </a:ln>
        </p:spPr>
        <p:txBody>
          <a:bodyPr wrap="square" lIns="381" tIns="381" rIns="381" bIns="381" rtlCol="0" anchor="ctr"/>
          <a:lstStyle/>
          <a:p>
            <a:pPr algn="ctr" indent="0" marL="0">
              <a:buNone/>
            </a:pPr>
            <a:r>
              <a:rPr lang="en-US" sz="1400" b="1" dirty="0">
                <a:solidFill>
                  <a:schemeClr val="tx1"/>
                </a:solidFill>
              </a:rPr>
              <a:t>Age Group</a:t>
            </a:r>
            <a:endParaRPr lang="en-US" sz="1400" dirty="0"/>
          </a:p>
        </p:txBody>
      </p:sp>
      <p:sp>
        <p:nvSpPr>
          <p:cNvPr id="11" name="anim:8:fade:chip30"/>
          <p:cNvSpPr txBox="1"/>
          <p:nvPr/>
        </p:nvSpPr>
        <p:spPr>
          <a:xfrm>
            <a:off x="2103120" y="3794760"/>
            <a:ext cx="1554480" cy="594360"/>
          </a:xfrm>
          <a:prstGeom prst="roundRect">
            <a:avLst>
              <a:gd name="adj" fmla="val 15385"/>
            </a:avLst>
          </a:prstGeom>
          <a:solidFill>
            <a:schemeClr val="bg2"/>
          </a:solidFill>
          <a:ln w="12700">
            <a:solidFill>
              <a:schemeClr val="accent5"/>
            </a:solidFill>
          </a:ln>
        </p:spPr>
        <p:txBody>
          <a:bodyPr wrap="square" lIns="381" tIns="381" rIns="381" bIns="381" rtlCol="0" anchor="ctr"/>
          <a:lstStyle/>
          <a:p>
            <a:pPr algn="ctr" indent="0" marL="0">
              <a:buNone/>
            </a:pPr>
            <a:r>
              <a:rPr lang="en-US" sz="1400" b="1" dirty="0">
                <a:solidFill>
                  <a:schemeClr val="tx1"/>
                </a:solidFill>
              </a:rPr>
              <a:t>Merchant</a:t>
            </a:r>
            <a:endParaRPr lang="en-US" sz="1400" dirty="0"/>
          </a:p>
        </p:txBody>
      </p:sp>
      <p:sp>
        <p:nvSpPr>
          <p:cNvPr id="12" name="anim:9:fade:chip31"/>
          <p:cNvSpPr txBox="1"/>
          <p:nvPr/>
        </p:nvSpPr>
        <p:spPr>
          <a:xfrm>
            <a:off x="3749040" y="3794760"/>
            <a:ext cx="1554480" cy="594360"/>
          </a:xfrm>
          <a:prstGeom prst="roundRect">
            <a:avLst>
              <a:gd name="adj" fmla="val 15385"/>
            </a:avLst>
          </a:prstGeom>
          <a:solidFill>
            <a:schemeClr val="bg2"/>
          </a:solidFill>
          <a:ln w="12700">
            <a:solidFill>
              <a:schemeClr val="accent5"/>
            </a:solidFill>
          </a:ln>
        </p:spPr>
        <p:txBody>
          <a:bodyPr wrap="square" lIns="381" tIns="381" rIns="381" bIns="381" rtlCol="0" anchor="ctr"/>
          <a:lstStyle/>
          <a:p>
            <a:pPr algn="ctr" indent="0" marL="0">
              <a:buNone/>
            </a:pPr>
            <a:r>
              <a:rPr lang="en-US" sz="1400" b="1" dirty="0">
                <a:solidFill>
                  <a:schemeClr val="tx1"/>
                </a:solidFill>
              </a:rPr>
              <a:t>Payment Method</a:t>
            </a:r>
            <a:endParaRPr lang="en-US" sz="1400" dirty="0"/>
          </a:p>
        </p:txBody>
      </p:sp>
      <p:sp>
        <p:nvSpPr>
          <p:cNvPr id="13" name="anim:10:fade:chip32"/>
          <p:cNvSpPr txBox="1"/>
          <p:nvPr/>
        </p:nvSpPr>
        <p:spPr>
          <a:xfrm>
            <a:off x="5394960" y="3794760"/>
            <a:ext cx="1554480" cy="594360"/>
          </a:xfrm>
          <a:prstGeom prst="roundRect">
            <a:avLst>
              <a:gd name="adj" fmla="val 15385"/>
            </a:avLst>
          </a:prstGeom>
          <a:solidFill>
            <a:schemeClr val="bg2"/>
          </a:solidFill>
          <a:ln w="12700">
            <a:solidFill>
              <a:schemeClr val="accent5"/>
            </a:solidFill>
          </a:ln>
        </p:spPr>
        <p:txBody>
          <a:bodyPr wrap="square" lIns="381" tIns="381" rIns="381" bIns="381" rtlCol="0" anchor="ctr"/>
          <a:lstStyle/>
          <a:p>
            <a:pPr algn="ctr" indent="0" marL="0">
              <a:buNone/>
            </a:pPr>
            <a:r>
              <a:rPr lang="en-US" sz="1400" b="1" dirty="0">
                <a:solidFill>
                  <a:schemeClr val="tx1"/>
                </a:solidFill>
              </a:rPr>
              <a:t>Purpose</a:t>
            </a:r>
            <a:endParaRPr lang="en-US" sz="1400" dirty="0"/>
          </a:p>
        </p:txBody>
      </p:sp>
      <p:sp>
        <p:nvSpPr>
          <p:cNvPr id="14" name="anim:11:fade:chip33"/>
          <p:cNvSpPr txBox="1"/>
          <p:nvPr/>
        </p:nvSpPr>
        <p:spPr>
          <a:xfrm>
            <a:off x="7040880" y="3794760"/>
            <a:ext cx="1554480" cy="594360"/>
          </a:xfrm>
          <a:prstGeom prst="roundRect">
            <a:avLst>
              <a:gd name="adj" fmla="val 15385"/>
            </a:avLst>
          </a:prstGeom>
          <a:solidFill>
            <a:schemeClr val="bg2"/>
          </a:solidFill>
          <a:ln w="12700">
            <a:solidFill>
              <a:schemeClr val="accent5"/>
            </a:solidFill>
          </a:ln>
        </p:spPr>
        <p:txBody>
          <a:bodyPr wrap="square" lIns="381" tIns="381" rIns="381" bIns="381" rtlCol="0" anchor="ctr"/>
          <a:lstStyle/>
          <a:p>
            <a:pPr algn="ctr" indent="0" marL="0">
              <a:buNone/>
            </a:pPr>
            <a:r>
              <a:rPr lang="en-US" sz="1400" b="1" dirty="0">
                <a:solidFill>
                  <a:schemeClr val="tx1"/>
                </a:solidFill>
              </a:rPr>
              <a:t>Transaction Type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transition spd="med">
    <p:cover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childTnLst>
                          </p:cTn>
                        </p:par>
                        <p:par>
                          <p:cTn id="11" fill="hold">
                            <p:stCondLst>
                              <p:cond delay="45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par>
                          <p:cTn id="15" fill="hold">
                            <p:stCondLst>
                              <p:cond delay="90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par>
                          <p:cTn id="19" fill="hold">
                            <p:stCondLst>
                              <p:cond delay="135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par>
                          <p:cTn id="23" fill="hold">
                            <p:stCondLst>
                              <p:cond delay="180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par>
                          <p:cTn id="27" fill="hold">
                            <p:stCondLst>
                              <p:cond delay="225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par>
                          <p:cTn id="31" fill="hold">
                            <p:stCondLst>
                              <p:cond delay="270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par>
                          <p:cTn id="35" fill="hold">
                            <p:stCondLst>
                              <p:cond delay="315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childTnLst>
                          </p:cTn>
                        </p:par>
                        <p:par>
                          <p:cTn id="39" fill="hold">
                            <p:stCondLst>
                              <p:cond delay="360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par>
                          <p:cTn id="43" fill="hold">
                            <p:stCondLst>
                              <p:cond delay="405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childTnLst>
                                </p:cTn>
                              </p:par>
                            </p:childTnLst>
                          </p:cTn>
                        </p:par>
                        <p:par>
                          <p:cTn id="47" fill="hold">
                            <p:stCondLst>
                              <p:cond delay="450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Transactions by month, 2024</a:t>
            </a:r>
            <a:endParaRPr lang="en-US" sz="3200" dirty="0"/>
          </a:p>
        </p:txBody>
      </p:sp>
      <p:sp>
        <p:nvSpPr>
          <p:cNvPr id="3" name="anim:1:wipe:chart34-frame"/>
          <p:cNvSpPr/>
          <p:nvPr/>
        </p:nvSpPr>
        <p:spPr>
          <a:xfrm>
            <a:off x="448056" y="1133856"/>
            <a:ext cx="5321808" cy="2145577"/>
          </a:xfrm>
          <a:prstGeom prst="roundRect">
            <a:avLst>
              <a:gd name="adj" fmla="val 2557"/>
            </a:avLst>
          </a:prstGeom>
          <a:solidFill>
            <a:schemeClr val="bg1"/>
          </a:solidFill>
          <a:ln w="12700">
            <a:solidFill>
              <a:schemeClr val="accent5"/>
            </a:solidFill>
            <a:prstDash val="solid"/>
          </a:ln>
          <a:effectLst>
            <a:outerShdw sx="100000" sy="100000" kx="0" ky="0" algn="bl" rotWithShape="0" blurRad="101600" dist="25400" dir="5400000">
              <a:srgbClr val="000000">
                <a:alpha val="15000"/>
              </a:srgbClr>
            </a:outerShdw>
          </a:effectLst>
        </p:spPr>
      </p:sp>
      <p:pic>
        <p:nvPicPr>
          <p:cNvPr id="4" name="anim:1:wipe:chart34" descr="anim:1:wipe:chart34">    </p:cNvPr>
          <p:cNvPicPr>
            <a:picLocks noChangeAspect="1"/>
          </p:cNvPicPr>
          <p:nvPr/>
        </p:nvPicPr>
        <p:blipFill>
          <a:blip r:embed="rId1"/>
          <a:stretch>
            <a:fillRect/>
          </a:stretch>
        </p:blipFill>
        <p:spPr>
          <a:xfrm>
            <a:off x="502920" y="1188720"/>
            <a:ext cx="5212080" cy="2035849"/>
          </a:xfrm>
          <a:prstGeom prst="rect">
            <a:avLst/>
          </a:prstGeom>
        </p:spPr>
      </p:pic>
      <p:sp>
        <p:nvSpPr>
          <p:cNvPr id="5" name="anim:2:fade:c35"/>
          <p:cNvSpPr/>
          <p:nvPr/>
        </p:nvSpPr>
        <p:spPr>
          <a:xfrm>
            <a:off x="5989320" y="1188720"/>
            <a:ext cx="2697480" cy="1051560"/>
          </a:xfrm>
          <a:prstGeom prst="roundRect">
            <a:avLst>
              <a:gd name="adj" fmla="val 8696"/>
            </a:avLst>
          </a:prstGeom>
          <a:solidFill>
            <a:schemeClr val="bg2"/>
          </a:solidFill>
          <a:ln w="9525">
            <a:solidFill>
              <a:schemeClr val="bg2"/>
            </a:solidFill>
            <a:prstDash val="solid"/>
          </a:ln>
          <a:effectLst>
            <a:outerShdw sx="100000" sy="100000" kx="0" ky="0" algn="bl" rotWithShape="0" blurRad="101600" dist="25400" dir="5400000">
              <a:srgbClr val="000000">
                <a:alpha val="15000"/>
              </a:srgbClr>
            </a:outerShdw>
          </a:effectLst>
        </p:spPr>
      </p:sp>
      <p:sp>
        <p:nvSpPr>
          <p:cNvPr id="6" name="anim:2:fade:t36"/>
          <p:cNvSpPr txBox="1"/>
          <p:nvPr/>
        </p:nvSpPr>
        <p:spPr>
          <a:xfrm>
            <a:off x="6126480" y="1261872"/>
            <a:ext cx="2423160" cy="914400"/>
          </a:xfrm>
          <a:prstGeom prst="rect">
            <a:avLst/>
          </a:prstGeom>
          <a:noFill/>
          <a:ln/>
        </p:spPr>
        <p:txBody>
          <a:bodyPr wrap="square" lIns="0" tIns="0" rIns="0" bIns="0" rtlCol="0" anchor="t"/>
          <a:lstStyle/>
          <a:p>
            <a:pPr indent="0" marL="0">
              <a:buNone/>
            </a:pPr>
            <a:r>
              <a:rPr lang="en-US" sz="1400" b="1" dirty="0">
                <a:solidFill>
                  <a:schemeClr val="accent1"/>
                </a:solidFill>
              </a:rPr>
              <a:t>Peak month</a:t>
            </a:r>
            <a:endParaRPr lang="en-US" sz="1400" dirty="0"/>
          </a:p>
          <a:p>
            <a:pPr indent="0" marL="0">
              <a:buNone/>
            </a:pPr>
            <a:r>
              <a:rPr lang="en-US" sz="1400" dirty="0">
                <a:solidFill>
                  <a:schemeClr val="tx1"/>
                </a:solidFill>
              </a:rPr>
              <a:t>May reaches the highest total at 1,707K</a:t>
            </a:r>
            <a:endParaRPr lang="en-US" sz="1400" dirty="0"/>
          </a:p>
        </p:txBody>
      </p:sp>
      <p:sp>
        <p:nvSpPr>
          <p:cNvPr id="7" name="anim:3:fade:c37"/>
          <p:cNvSpPr/>
          <p:nvPr/>
        </p:nvSpPr>
        <p:spPr>
          <a:xfrm>
            <a:off x="5989320" y="2359152"/>
            <a:ext cx="2697480" cy="1051560"/>
          </a:xfrm>
          <a:prstGeom prst="roundRect">
            <a:avLst>
              <a:gd name="adj" fmla="val 8696"/>
            </a:avLst>
          </a:prstGeom>
          <a:solidFill>
            <a:schemeClr val="bg2"/>
          </a:solidFill>
          <a:ln w="9525">
            <a:solidFill>
              <a:schemeClr val="bg2"/>
            </a:solidFill>
            <a:prstDash val="solid"/>
          </a:ln>
          <a:effectLst>
            <a:outerShdw sx="100000" sy="100000" kx="0" ky="0" algn="bl" rotWithShape="0" blurRad="101600" dist="25400" dir="5400000">
              <a:srgbClr val="000000">
                <a:alpha val="15000"/>
              </a:srgbClr>
            </a:outerShdw>
          </a:effectLst>
        </p:spPr>
      </p:sp>
      <p:sp>
        <p:nvSpPr>
          <p:cNvPr id="8" name="anim:3:fade:t38"/>
          <p:cNvSpPr txBox="1"/>
          <p:nvPr/>
        </p:nvSpPr>
        <p:spPr>
          <a:xfrm>
            <a:off x="6126480" y="2432304"/>
            <a:ext cx="2423160" cy="914400"/>
          </a:xfrm>
          <a:prstGeom prst="rect">
            <a:avLst/>
          </a:prstGeom>
          <a:noFill/>
          <a:ln/>
        </p:spPr>
        <p:txBody>
          <a:bodyPr wrap="square" lIns="0" tIns="0" rIns="0" bIns="0" rtlCol="0" anchor="t"/>
          <a:lstStyle/>
          <a:p>
            <a:pPr indent="0" marL="0">
              <a:buNone/>
            </a:pPr>
            <a:r>
              <a:rPr lang="en-US" sz="1400" b="1" dirty="0">
                <a:solidFill>
                  <a:schemeClr val="accent1"/>
                </a:solidFill>
              </a:rPr>
              <a:t>Lowest month</a:t>
            </a:r>
            <a:endParaRPr lang="en-US" sz="1400" dirty="0"/>
          </a:p>
          <a:p>
            <a:pPr indent="0" marL="0">
              <a:buNone/>
            </a:pPr>
            <a:r>
              <a:rPr lang="en-US" sz="1400" dirty="0">
                <a:solidFill>
                  <a:schemeClr val="tx1"/>
                </a:solidFill>
              </a:rPr>
              <a:t>August dips to 1,599K</a:t>
            </a:r>
            <a:endParaRPr lang="en-US" sz="1400" dirty="0"/>
          </a:p>
        </p:txBody>
      </p:sp>
      <p:sp>
        <p:nvSpPr>
          <p:cNvPr id="9" name="anim:4:fade:c39"/>
          <p:cNvSpPr/>
          <p:nvPr/>
        </p:nvSpPr>
        <p:spPr>
          <a:xfrm>
            <a:off x="5989320" y="3529584"/>
            <a:ext cx="2697480" cy="1051560"/>
          </a:xfrm>
          <a:prstGeom prst="roundRect">
            <a:avLst>
              <a:gd name="adj" fmla="val 8696"/>
            </a:avLst>
          </a:prstGeom>
          <a:solidFill>
            <a:schemeClr val="bg2"/>
          </a:solidFill>
          <a:ln w="9525">
            <a:solidFill>
              <a:schemeClr val="bg2"/>
            </a:solidFill>
            <a:prstDash val="solid"/>
          </a:ln>
          <a:effectLst>
            <a:outerShdw sx="100000" sy="100000" kx="0" ky="0" algn="bl" rotWithShape="0" blurRad="101600" dist="25400" dir="5400000">
              <a:srgbClr val="000000">
                <a:alpha val="15000"/>
              </a:srgbClr>
            </a:outerShdw>
          </a:effectLst>
        </p:spPr>
      </p:sp>
      <p:sp>
        <p:nvSpPr>
          <p:cNvPr id="10" name="anim:4:fade:t40"/>
          <p:cNvSpPr txBox="1"/>
          <p:nvPr/>
        </p:nvSpPr>
        <p:spPr>
          <a:xfrm>
            <a:off x="6126480" y="3602736"/>
            <a:ext cx="2423160" cy="914400"/>
          </a:xfrm>
          <a:prstGeom prst="rect">
            <a:avLst/>
          </a:prstGeom>
          <a:noFill/>
          <a:ln/>
        </p:spPr>
        <p:txBody>
          <a:bodyPr wrap="square" lIns="0" tIns="0" rIns="0" bIns="0" rtlCol="0" anchor="t"/>
          <a:lstStyle/>
          <a:p>
            <a:pPr indent="0" marL="0">
              <a:buNone/>
            </a:pPr>
            <a:r>
              <a:rPr lang="en-US" sz="1400" b="1" dirty="0">
                <a:solidFill>
                  <a:schemeClr val="accent1"/>
                </a:solidFill>
              </a:rPr>
              <a:t>Other highs</a:t>
            </a:r>
            <a:endParaRPr lang="en-US" sz="1400" dirty="0"/>
          </a:p>
          <a:p>
            <a:pPr indent="0" marL="0">
              <a:buNone/>
            </a:pPr>
            <a:r>
              <a:rPr lang="en-US" sz="1400" dirty="0">
                <a:solidFill>
                  <a:schemeClr val="tx1"/>
                </a:solidFill>
              </a:rPr>
              <a:t>February and October both pass 1,690K</a:t>
            </a:r>
            <a:endParaRPr lang="en-US" sz="1400" dirty="0"/>
          </a:p>
        </p:txBody>
      </p:sp>
      <p:sp>
        <p:nvSpPr>
          <p:cNvPr id="11" name="anim:5:fade:cap41"/>
          <p:cNvSpPr/>
          <p:nvPr/>
        </p:nvSpPr>
        <p:spPr>
          <a:xfrm>
            <a:off x="457200" y="3840480"/>
            <a:ext cx="5303520" cy="777240"/>
          </a:xfrm>
          <a:prstGeom prst="roundRect">
            <a:avLst>
              <a:gd name="adj" fmla="val 11765"/>
            </a:avLst>
          </a:prstGeom>
          <a:solidFill>
            <a:schemeClr val="tx1"/>
          </a:solidFill>
          <a:ln w="9525">
            <a:solidFill>
              <a:schemeClr val="tx1"/>
            </a:solidFill>
            <a:prstDash val="solid"/>
          </a:ln>
        </p:spPr>
      </p:sp>
      <p:sp>
        <p:nvSpPr>
          <p:cNvPr id="12" name="anim:5:fade:captxt42"/>
          <p:cNvSpPr txBox="1"/>
          <p:nvPr/>
        </p:nvSpPr>
        <p:spPr>
          <a:xfrm>
            <a:off x="640080" y="3840480"/>
            <a:ext cx="4937760" cy="777240"/>
          </a:xfrm>
          <a:prstGeom prst="rect">
            <a:avLst/>
          </a:prstGeom>
          <a:noFill/>
          <a:ln/>
        </p:spPr>
        <p:txBody>
          <a:bodyPr wrap="square" lIns="0" tIns="0" rIns="0" bIns="0" rtlCol="0" anchor="ctr"/>
          <a:lstStyle/>
          <a:p>
            <a:pPr indent="0" marL="0">
              <a:buNone/>
            </a:pPr>
            <a:r>
              <a:rPr lang="en-US" sz="1400" b="1" dirty="0">
                <a:solidFill>
                  <a:schemeClr val="bg1"/>
                </a:solidFill>
              </a:rPr>
              <a:t>Four buttons switch between line and column charts of amounts and balances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childTnLst>
                          </p:cTn>
                        </p:par>
                        <p:par>
                          <p:cTn id="11" fill="hold">
                            <p:stCondLst>
                              <p:cond delay="45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par>
                          <p:cTn id="18" fill="hold">
                            <p:stCondLst>
                              <p:cond delay="900"/>
                            </p:stCondLst>
                            <p:childTnLst>
                              <p:par>
                                <p:cTn id="19" presetID="10" presetClass="entr" presetSubtype="0"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par>
                          <p:cTn id="25" fill="hold">
                            <p:stCondLst>
                              <p:cond delay="1350"/>
                            </p:stCondLst>
                            <p:childTnLst>
                              <p:par>
                                <p:cTn id="26" presetID="10" presetClass="entr" presetSubtype="0"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par>
                          <p:cTn id="32" fill="hold">
                            <p:stCondLst>
                              <p:cond delay="1800"/>
                            </p:stCondLst>
                            <p:childTnLst>
                              <p:par>
                                <p:cTn id="33" presetID="10" presetClass="entr" presetSubtype="0" fill="hold" grpId="0"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0" grpId="0" animBg="1"/>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Volume stays steady all year</a:t>
            </a:r>
            <a:endParaRPr lang="en-US" sz="3200" dirty="0"/>
          </a:p>
        </p:txBody>
      </p:sp>
      <p:sp>
        <p:nvSpPr>
          <p:cNvPr id="3" name="anim:1:rise:bar43"/>
          <p:cNvSpPr/>
          <p:nvPr/>
        </p:nvSpPr>
        <p:spPr>
          <a:xfrm>
            <a:off x="685800" y="2000458"/>
            <a:ext cx="457200" cy="2068622"/>
          </a:xfrm>
          <a:prstGeom prst="rect">
            <a:avLst/>
          </a:prstGeom>
          <a:solidFill>
            <a:schemeClr val="accent4"/>
          </a:solidFill>
          <a:ln w="12700">
            <a:solidFill>
              <a:schemeClr val="accent4"/>
            </a:solidFill>
            <a:prstDash val="solid"/>
          </a:ln>
        </p:spPr>
      </p:sp>
      <p:sp>
        <p:nvSpPr>
          <p:cNvPr id="4" name="anim:1:fade:val44"/>
          <p:cNvSpPr txBox="1"/>
          <p:nvPr/>
        </p:nvSpPr>
        <p:spPr>
          <a:xfrm>
            <a:off x="576072" y="1726138"/>
            <a:ext cx="676656" cy="256032"/>
          </a:xfrm>
          <a:prstGeom prst="rect">
            <a:avLst/>
          </a:prstGeom>
          <a:noFill/>
          <a:ln/>
        </p:spPr>
        <p:txBody>
          <a:bodyPr wrap="square" lIns="0" tIns="0" rIns="0" bIns="0" rtlCol="0" anchor="b"/>
          <a:lstStyle/>
          <a:p>
            <a:pPr algn="ctr" indent="0" marL="0">
              <a:buNone/>
            </a:pPr>
            <a:r>
              <a:rPr lang="en-US" sz="1200" b="1" dirty="0">
                <a:solidFill>
                  <a:schemeClr val="tx1"/>
                </a:solidFill>
              </a:rPr>
              <a:t>1679</a:t>
            </a:r>
            <a:endParaRPr lang="en-US" sz="1200" dirty="0"/>
          </a:p>
        </p:txBody>
      </p:sp>
      <p:sp>
        <p:nvSpPr>
          <p:cNvPr id="5" name="anim:1:fade:mo45"/>
          <p:cNvSpPr txBox="1"/>
          <p:nvPr/>
        </p:nvSpPr>
        <p:spPr>
          <a:xfrm>
            <a:off x="576072" y="4114800"/>
            <a:ext cx="676656" cy="256032"/>
          </a:xfrm>
          <a:prstGeom prst="rect">
            <a:avLst/>
          </a:prstGeom>
          <a:noFill/>
          <a:ln/>
        </p:spPr>
        <p:txBody>
          <a:bodyPr wrap="square" lIns="0" tIns="0" rIns="0" bIns="0" rtlCol="0" anchor="ctr"/>
          <a:lstStyle/>
          <a:p>
            <a:pPr algn="ctr" indent="0" marL="0">
              <a:buNone/>
            </a:pPr>
            <a:r>
              <a:rPr lang="en-US" sz="1200" dirty="0">
                <a:solidFill>
                  <a:schemeClr val="tx1"/>
                </a:solidFill>
              </a:rPr>
              <a:t>Jan</a:t>
            </a:r>
            <a:endParaRPr lang="en-US" sz="1200" dirty="0"/>
          </a:p>
        </p:txBody>
      </p:sp>
      <p:sp>
        <p:nvSpPr>
          <p:cNvPr id="6" name="anim:1:rise:bar46"/>
          <p:cNvSpPr/>
          <p:nvPr/>
        </p:nvSpPr>
        <p:spPr>
          <a:xfrm>
            <a:off x="1353312" y="1983209"/>
            <a:ext cx="457200" cy="2085871"/>
          </a:xfrm>
          <a:prstGeom prst="rect">
            <a:avLst/>
          </a:prstGeom>
          <a:solidFill>
            <a:schemeClr val="accent4"/>
          </a:solidFill>
          <a:ln w="12700">
            <a:solidFill>
              <a:schemeClr val="accent4"/>
            </a:solidFill>
            <a:prstDash val="solid"/>
          </a:ln>
        </p:spPr>
      </p:sp>
      <p:sp>
        <p:nvSpPr>
          <p:cNvPr id="7" name="anim:1:fade:val47"/>
          <p:cNvSpPr txBox="1"/>
          <p:nvPr/>
        </p:nvSpPr>
        <p:spPr>
          <a:xfrm>
            <a:off x="1243584" y="1708889"/>
            <a:ext cx="676656" cy="256032"/>
          </a:xfrm>
          <a:prstGeom prst="rect">
            <a:avLst/>
          </a:prstGeom>
          <a:noFill/>
          <a:ln/>
        </p:spPr>
        <p:txBody>
          <a:bodyPr wrap="square" lIns="0" tIns="0" rIns="0" bIns="0" rtlCol="0" anchor="b"/>
          <a:lstStyle/>
          <a:p>
            <a:pPr algn="ctr" indent="0" marL="0">
              <a:buNone/>
            </a:pPr>
            <a:r>
              <a:rPr lang="en-US" sz="1200" b="1" dirty="0">
                <a:solidFill>
                  <a:schemeClr val="tx1"/>
                </a:solidFill>
              </a:rPr>
              <a:t>1693</a:t>
            </a:r>
            <a:endParaRPr lang="en-US" sz="1200" dirty="0"/>
          </a:p>
        </p:txBody>
      </p:sp>
      <p:sp>
        <p:nvSpPr>
          <p:cNvPr id="8" name="anim:1:fade:mo48"/>
          <p:cNvSpPr txBox="1"/>
          <p:nvPr/>
        </p:nvSpPr>
        <p:spPr>
          <a:xfrm>
            <a:off x="1243584" y="4114800"/>
            <a:ext cx="676656" cy="256032"/>
          </a:xfrm>
          <a:prstGeom prst="rect">
            <a:avLst/>
          </a:prstGeom>
          <a:noFill/>
          <a:ln/>
        </p:spPr>
        <p:txBody>
          <a:bodyPr wrap="square" lIns="0" tIns="0" rIns="0" bIns="0" rtlCol="0" anchor="ctr"/>
          <a:lstStyle/>
          <a:p>
            <a:pPr algn="ctr" indent="0" marL="0">
              <a:buNone/>
            </a:pPr>
            <a:r>
              <a:rPr lang="en-US" sz="1200" dirty="0">
                <a:solidFill>
                  <a:schemeClr val="tx1"/>
                </a:solidFill>
              </a:rPr>
              <a:t>Feb</a:t>
            </a:r>
            <a:endParaRPr lang="en-US" sz="1200" dirty="0"/>
          </a:p>
        </p:txBody>
      </p:sp>
      <p:sp>
        <p:nvSpPr>
          <p:cNvPr id="9" name="anim:1:rise:bar49"/>
          <p:cNvSpPr/>
          <p:nvPr/>
        </p:nvSpPr>
        <p:spPr>
          <a:xfrm>
            <a:off x="2020824" y="2068221"/>
            <a:ext cx="457200" cy="2000859"/>
          </a:xfrm>
          <a:prstGeom prst="rect">
            <a:avLst/>
          </a:prstGeom>
          <a:solidFill>
            <a:schemeClr val="accent4"/>
          </a:solidFill>
          <a:ln w="12700">
            <a:solidFill>
              <a:schemeClr val="accent4"/>
            </a:solidFill>
            <a:prstDash val="solid"/>
          </a:ln>
        </p:spPr>
      </p:sp>
      <p:sp>
        <p:nvSpPr>
          <p:cNvPr id="10" name="anim:1:fade:val50"/>
          <p:cNvSpPr txBox="1"/>
          <p:nvPr/>
        </p:nvSpPr>
        <p:spPr>
          <a:xfrm>
            <a:off x="1911096" y="1793901"/>
            <a:ext cx="676656" cy="256032"/>
          </a:xfrm>
          <a:prstGeom prst="rect">
            <a:avLst/>
          </a:prstGeom>
          <a:noFill/>
          <a:ln/>
        </p:spPr>
        <p:txBody>
          <a:bodyPr wrap="square" lIns="0" tIns="0" rIns="0" bIns="0" rtlCol="0" anchor="b"/>
          <a:lstStyle/>
          <a:p>
            <a:pPr algn="ctr" indent="0" marL="0">
              <a:buNone/>
            </a:pPr>
            <a:r>
              <a:rPr lang="en-US" sz="1200" b="1" dirty="0">
                <a:solidFill>
                  <a:schemeClr val="tx1"/>
                </a:solidFill>
              </a:rPr>
              <a:t>1624</a:t>
            </a:r>
            <a:endParaRPr lang="en-US" sz="1200" dirty="0"/>
          </a:p>
        </p:txBody>
      </p:sp>
      <p:sp>
        <p:nvSpPr>
          <p:cNvPr id="11" name="anim:1:fade:mo51"/>
          <p:cNvSpPr txBox="1"/>
          <p:nvPr/>
        </p:nvSpPr>
        <p:spPr>
          <a:xfrm>
            <a:off x="1911096" y="4114800"/>
            <a:ext cx="676656" cy="256032"/>
          </a:xfrm>
          <a:prstGeom prst="rect">
            <a:avLst/>
          </a:prstGeom>
          <a:noFill/>
          <a:ln/>
        </p:spPr>
        <p:txBody>
          <a:bodyPr wrap="square" lIns="0" tIns="0" rIns="0" bIns="0" rtlCol="0" anchor="ctr"/>
          <a:lstStyle/>
          <a:p>
            <a:pPr algn="ctr" indent="0" marL="0">
              <a:buNone/>
            </a:pPr>
            <a:r>
              <a:rPr lang="en-US" sz="1200" dirty="0">
                <a:solidFill>
                  <a:schemeClr val="tx1"/>
                </a:solidFill>
              </a:rPr>
              <a:t>Mar</a:t>
            </a:r>
            <a:endParaRPr lang="en-US" sz="1200" dirty="0"/>
          </a:p>
        </p:txBody>
      </p:sp>
      <p:sp>
        <p:nvSpPr>
          <p:cNvPr id="12" name="anim:2:rise:bar52"/>
          <p:cNvSpPr/>
          <p:nvPr/>
        </p:nvSpPr>
        <p:spPr>
          <a:xfrm>
            <a:off x="2688336" y="2020170"/>
            <a:ext cx="457200" cy="2048910"/>
          </a:xfrm>
          <a:prstGeom prst="rect">
            <a:avLst/>
          </a:prstGeom>
          <a:solidFill>
            <a:schemeClr val="accent4"/>
          </a:solidFill>
          <a:ln w="12700">
            <a:solidFill>
              <a:schemeClr val="accent4"/>
            </a:solidFill>
            <a:prstDash val="solid"/>
          </a:ln>
        </p:spPr>
      </p:sp>
      <p:sp>
        <p:nvSpPr>
          <p:cNvPr id="13" name="anim:2:fade:val53"/>
          <p:cNvSpPr txBox="1"/>
          <p:nvPr/>
        </p:nvSpPr>
        <p:spPr>
          <a:xfrm>
            <a:off x="2578608" y="1745850"/>
            <a:ext cx="676656" cy="256032"/>
          </a:xfrm>
          <a:prstGeom prst="rect">
            <a:avLst/>
          </a:prstGeom>
          <a:noFill/>
          <a:ln/>
        </p:spPr>
        <p:txBody>
          <a:bodyPr wrap="square" lIns="0" tIns="0" rIns="0" bIns="0" rtlCol="0" anchor="b"/>
          <a:lstStyle/>
          <a:p>
            <a:pPr algn="ctr" indent="0" marL="0">
              <a:buNone/>
            </a:pPr>
            <a:r>
              <a:rPr lang="en-US" sz="1200" b="1" dirty="0">
                <a:solidFill>
                  <a:schemeClr val="tx1"/>
                </a:solidFill>
              </a:rPr>
              <a:t>1663</a:t>
            </a:r>
            <a:endParaRPr lang="en-US" sz="1200" dirty="0"/>
          </a:p>
        </p:txBody>
      </p:sp>
      <p:sp>
        <p:nvSpPr>
          <p:cNvPr id="14" name="anim:2:fade:mo54"/>
          <p:cNvSpPr txBox="1"/>
          <p:nvPr/>
        </p:nvSpPr>
        <p:spPr>
          <a:xfrm>
            <a:off x="2578608" y="4114800"/>
            <a:ext cx="676656" cy="256032"/>
          </a:xfrm>
          <a:prstGeom prst="rect">
            <a:avLst/>
          </a:prstGeom>
          <a:noFill/>
          <a:ln/>
        </p:spPr>
        <p:txBody>
          <a:bodyPr wrap="square" lIns="0" tIns="0" rIns="0" bIns="0" rtlCol="0" anchor="ctr"/>
          <a:lstStyle/>
          <a:p>
            <a:pPr algn="ctr" indent="0" marL="0">
              <a:buNone/>
            </a:pPr>
            <a:r>
              <a:rPr lang="en-US" sz="1200" dirty="0">
                <a:solidFill>
                  <a:schemeClr val="tx1"/>
                </a:solidFill>
              </a:rPr>
              <a:t>Apr</a:t>
            </a:r>
            <a:endParaRPr lang="en-US" sz="1200" dirty="0"/>
          </a:p>
        </p:txBody>
      </p:sp>
      <p:sp>
        <p:nvSpPr>
          <p:cNvPr id="15" name="anim:2:rise:bar55"/>
          <p:cNvSpPr/>
          <p:nvPr/>
        </p:nvSpPr>
        <p:spPr>
          <a:xfrm>
            <a:off x="3355848" y="1965960"/>
            <a:ext cx="457200" cy="2103120"/>
          </a:xfrm>
          <a:prstGeom prst="rect">
            <a:avLst/>
          </a:prstGeom>
          <a:solidFill>
            <a:schemeClr val="accent1"/>
          </a:solidFill>
          <a:ln w="12700">
            <a:solidFill>
              <a:schemeClr val="accent1"/>
            </a:solidFill>
            <a:prstDash val="solid"/>
          </a:ln>
        </p:spPr>
      </p:sp>
      <p:sp>
        <p:nvSpPr>
          <p:cNvPr id="16" name="anim:2:fade:val56"/>
          <p:cNvSpPr txBox="1"/>
          <p:nvPr/>
        </p:nvSpPr>
        <p:spPr>
          <a:xfrm>
            <a:off x="3246120" y="1691640"/>
            <a:ext cx="676656" cy="256032"/>
          </a:xfrm>
          <a:prstGeom prst="rect">
            <a:avLst/>
          </a:prstGeom>
          <a:noFill/>
          <a:ln/>
        </p:spPr>
        <p:txBody>
          <a:bodyPr wrap="square" lIns="0" tIns="0" rIns="0" bIns="0" rtlCol="0" anchor="b"/>
          <a:lstStyle/>
          <a:p>
            <a:pPr algn="ctr" indent="0" marL="0">
              <a:buNone/>
            </a:pPr>
            <a:r>
              <a:rPr lang="en-US" sz="1200" b="1" dirty="0">
                <a:solidFill>
                  <a:schemeClr val="tx1"/>
                </a:solidFill>
              </a:rPr>
              <a:t>1707</a:t>
            </a:r>
            <a:endParaRPr lang="en-US" sz="1200" dirty="0"/>
          </a:p>
        </p:txBody>
      </p:sp>
      <p:sp>
        <p:nvSpPr>
          <p:cNvPr id="17" name="anim:2:fade:mo57"/>
          <p:cNvSpPr txBox="1"/>
          <p:nvPr/>
        </p:nvSpPr>
        <p:spPr>
          <a:xfrm>
            <a:off x="3246120" y="4114800"/>
            <a:ext cx="676656" cy="256032"/>
          </a:xfrm>
          <a:prstGeom prst="rect">
            <a:avLst/>
          </a:prstGeom>
          <a:noFill/>
          <a:ln/>
        </p:spPr>
        <p:txBody>
          <a:bodyPr wrap="square" lIns="0" tIns="0" rIns="0" bIns="0" rtlCol="0" anchor="ctr"/>
          <a:lstStyle/>
          <a:p>
            <a:pPr algn="ctr" indent="0" marL="0">
              <a:buNone/>
            </a:pPr>
            <a:r>
              <a:rPr lang="en-US" sz="1200" dirty="0">
                <a:solidFill>
                  <a:schemeClr val="tx1"/>
                </a:solidFill>
              </a:rPr>
              <a:t>May</a:t>
            </a:r>
            <a:endParaRPr lang="en-US" sz="1200" dirty="0"/>
          </a:p>
        </p:txBody>
      </p:sp>
      <p:sp>
        <p:nvSpPr>
          <p:cNvPr id="18" name="anim:2:rise:bar58"/>
          <p:cNvSpPr/>
          <p:nvPr/>
        </p:nvSpPr>
        <p:spPr>
          <a:xfrm>
            <a:off x="4023360" y="2032491"/>
            <a:ext cx="457200" cy="2036589"/>
          </a:xfrm>
          <a:prstGeom prst="rect">
            <a:avLst/>
          </a:prstGeom>
          <a:solidFill>
            <a:schemeClr val="accent4"/>
          </a:solidFill>
          <a:ln w="12700">
            <a:solidFill>
              <a:schemeClr val="accent4"/>
            </a:solidFill>
            <a:prstDash val="solid"/>
          </a:ln>
        </p:spPr>
      </p:sp>
      <p:sp>
        <p:nvSpPr>
          <p:cNvPr id="19" name="anim:2:fade:val59"/>
          <p:cNvSpPr txBox="1"/>
          <p:nvPr/>
        </p:nvSpPr>
        <p:spPr>
          <a:xfrm>
            <a:off x="3913632" y="1758171"/>
            <a:ext cx="676656" cy="256032"/>
          </a:xfrm>
          <a:prstGeom prst="rect">
            <a:avLst/>
          </a:prstGeom>
          <a:noFill/>
          <a:ln/>
        </p:spPr>
        <p:txBody>
          <a:bodyPr wrap="square" lIns="0" tIns="0" rIns="0" bIns="0" rtlCol="0" anchor="b"/>
          <a:lstStyle/>
          <a:p>
            <a:pPr algn="ctr" indent="0" marL="0">
              <a:buNone/>
            </a:pPr>
            <a:r>
              <a:rPr lang="en-US" sz="1200" b="1" dirty="0">
                <a:solidFill>
                  <a:schemeClr val="tx1"/>
                </a:solidFill>
              </a:rPr>
              <a:t>1653</a:t>
            </a:r>
            <a:endParaRPr lang="en-US" sz="1200" dirty="0"/>
          </a:p>
        </p:txBody>
      </p:sp>
      <p:sp>
        <p:nvSpPr>
          <p:cNvPr id="20" name="anim:2:fade:mo60"/>
          <p:cNvSpPr txBox="1"/>
          <p:nvPr/>
        </p:nvSpPr>
        <p:spPr>
          <a:xfrm>
            <a:off x="3913632" y="4114800"/>
            <a:ext cx="676656" cy="256032"/>
          </a:xfrm>
          <a:prstGeom prst="rect">
            <a:avLst/>
          </a:prstGeom>
          <a:noFill/>
          <a:ln/>
        </p:spPr>
        <p:txBody>
          <a:bodyPr wrap="square" lIns="0" tIns="0" rIns="0" bIns="0" rtlCol="0" anchor="ctr"/>
          <a:lstStyle/>
          <a:p>
            <a:pPr algn="ctr" indent="0" marL="0">
              <a:buNone/>
            </a:pPr>
            <a:r>
              <a:rPr lang="en-US" sz="1200" dirty="0">
                <a:solidFill>
                  <a:schemeClr val="tx1"/>
                </a:solidFill>
              </a:rPr>
              <a:t>Jun</a:t>
            </a:r>
            <a:endParaRPr lang="en-US" sz="1200" dirty="0"/>
          </a:p>
        </p:txBody>
      </p:sp>
      <p:sp>
        <p:nvSpPr>
          <p:cNvPr id="21" name="anim:3:rise:bar61"/>
          <p:cNvSpPr/>
          <p:nvPr/>
        </p:nvSpPr>
        <p:spPr>
          <a:xfrm>
            <a:off x="4690872" y="2085469"/>
            <a:ext cx="457200" cy="1983611"/>
          </a:xfrm>
          <a:prstGeom prst="rect">
            <a:avLst/>
          </a:prstGeom>
          <a:solidFill>
            <a:schemeClr val="accent4"/>
          </a:solidFill>
          <a:ln w="12700">
            <a:solidFill>
              <a:schemeClr val="accent4"/>
            </a:solidFill>
            <a:prstDash val="solid"/>
          </a:ln>
        </p:spPr>
      </p:sp>
      <p:sp>
        <p:nvSpPr>
          <p:cNvPr id="22" name="anim:3:fade:val62"/>
          <p:cNvSpPr txBox="1"/>
          <p:nvPr/>
        </p:nvSpPr>
        <p:spPr>
          <a:xfrm>
            <a:off x="4581144" y="1811149"/>
            <a:ext cx="676656" cy="256032"/>
          </a:xfrm>
          <a:prstGeom prst="rect">
            <a:avLst/>
          </a:prstGeom>
          <a:noFill/>
          <a:ln/>
        </p:spPr>
        <p:txBody>
          <a:bodyPr wrap="square" lIns="0" tIns="0" rIns="0" bIns="0" rtlCol="0" anchor="b"/>
          <a:lstStyle/>
          <a:p>
            <a:pPr algn="ctr" indent="0" marL="0">
              <a:buNone/>
            </a:pPr>
            <a:r>
              <a:rPr lang="en-US" sz="1200" b="1" dirty="0">
                <a:solidFill>
                  <a:schemeClr val="tx1"/>
                </a:solidFill>
              </a:rPr>
              <a:t>1610</a:t>
            </a:r>
            <a:endParaRPr lang="en-US" sz="1200" dirty="0"/>
          </a:p>
        </p:txBody>
      </p:sp>
      <p:sp>
        <p:nvSpPr>
          <p:cNvPr id="23" name="anim:3:fade:mo63"/>
          <p:cNvSpPr txBox="1"/>
          <p:nvPr/>
        </p:nvSpPr>
        <p:spPr>
          <a:xfrm>
            <a:off x="4581144" y="4114800"/>
            <a:ext cx="676656" cy="256032"/>
          </a:xfrm>
          <a:prstGeom prst="rect">
            <a:avLst/>
          </a:prstGeom>
          <a:noFill/>
          <a:ln/>
        </p:spPr>
        <p:txBody>
          <a:bodyPr wrap="square" lIns="0" tIns="0" rIns="0" bIns="0" rtlCol="0" anchor="ctr"/>
          <a:lstStyle/>
          <a:p>
            <a:pPr algn="ctr" indent="0" marL="0">
              <a:buNone/>
            </a:pPr>
            <a:r>
              <a:rPr lang="en-US" sz="1200" dirty="0">
                <a:solidFill>
                  <a:schemeClr val="tx1"/>
                </a:solidFill>
              </a:rPr>
              <a:t>Jul</a:t>
            </a:r>
            <a:endParaRPr lang="en-US" sz="1200" dirty="0"/>
          </a:p>
        </p:txBody>
      </p:sp>
      <p:sp>
        <p:nvSpPr>
          <p:cNvPr id="24" name="anim:3:rise:bar64"/>
          <p:cNvSpPr/>
          <p:nvPr/>
        </p:nvSpPr>
        <p:spPr>
          <a:xfrm>
            <a:off x="5358384" y="2099022"/>
            <a:ext cx="457200" cy="1970058"/>
          </a:xfrm>
          <a:prstGeom prst="rect">
            <a:avLst/>
          </a:prstGeom>
          <a:solidFill>
            <a:schemeClr val="accent6"/>
          </a:solidFill>
          <a:ln w="12700">
            <a:solidFill>
              <a:schemeClr val="accent6"/>
            </a:solidFill>
            <a:prstDash val="solid"/>
          </a:ln>
        </p:spPr>
      </p:sp>
      <p:sp>
        <p:nvSpPr>
          <p:cNvPr id="25" name="anim:3:fade:val65"/>
          <p:cNvSpPr txBox="1"/>
          <p:nvPr/>
        </p:nvSpPr>
        <p:spPr>
          <a:xfrm>
            <a:off x="5248656" y="1824702"/>
            <a:ext cx="676656" cy="256032"/>
          </a:xfrm>
          <a:prstGeom prst="rect">
            <a:avLst/>
          </a:prstGeom>
          <a:noFill/>
          <a:ln/>
        </p:spPr>
        <p:txBody>
          <a:bodyPr wrap="square" lIns="0" tIns="0" rIns="0" bIns="0" rtlCol="0" anchor="b"/>
          <a:lstStyle/>
          <a:p>
            <a:pPr algn="ctr" indent="0" marL="0">
              <a:buNone/>
            </a:pPr>
            <a:r>
              <a:rPr lang="en-US" sz="1200" b="1" dirty="0">
                <a:solidFill>
                  <a:schemeClr val="tx1"/>
                </a:solidFill>
              </a:rPr>
              <a:t>1599</a:t>
            </a:r>
            <a:endParaRPr lang="en-US" sz="1200" dirty="0"/>
          </a:p>
        </p:txBody>
      </p:sp>
      <p:sp>
        <p:nvSpPr>
          <p:cNvPr id="26" name="anim:3:fade:mo66"/>
          <p:cNvSpPr txBox="1"/>
          <p:nvPr/>
        </p:nvSpPr>
        <p:spPr>
          <a:xfrm>
            <a:off x="5248656" y="4114800"/>
            <a:ext cx="676656" cy="256032"/>
          </a:xfrm>
          <a:prstGeom prst="rect">
            <a:avLst/>
          </a:prstGeom>
          <a:noFill/>
          <a:ln/>
        </p:spPr>
        <p:txBody>
          <a:bodyPr wrap="square" lIns="0" tIns="0" rIns="0" bIns="0" rtlCol="0" anchor="ctr"/>
          <a:lstStyle/>
          <a:p>
            <a:pPr algn="ctr" indent="0" marL="0">
              <a:buNone/>
            </a:pPr>
            <a:r>
              <a:rPr lang="en-US" sz="1200" dirty="0">
                <a:solidFill>
                  <a:schemeClr val="tx1"/>
                </a:solidFill>
              </a:rPr>
              <a:t>Aug</a:t>
            </a:r>
            <a:endParaRPr lang="en-US" sz="1200" dirty="0"/>
          </a:p>
        </p:txBody>
      </p:sp>
      <p:sp>
        <p:nvSpPr>
          <p:cNvPr id="27" name="anim:3:rise:bar67"/>
          <p:cNvSpPr/>
          <p:nvPr/>
        </p:nvSpPr>
        <p:spPr>
          <a:xfrm>
            <a:off x="6025896" y="2015242"/>
            <a:ext cx="457200" cy="2053838"/>
          </a:xfrm>
          <a:prstGeom prst="rect">
            <a:avLst/>
          </a:prstGeom>
          <a:solidFill>
            <a:schemeClr val="accent4"/>
          </a:solidFill>
          <a:ln w="12700">
            <a:solidFill>
              <a:schemeClr val="accent4"/>
            </a:solidFill>
            <a:prstDash val="solid"/>
          </a:ln>
        </p:spPr>
      </p:sp>
      <p:sp>
        <p:nvSpPr>
          <p:cNvPr id="28" name="anim:3:fade:val68"/>
          <p:cNvSpPr txBox="1"/>
          <p:nvPr/>
        </p:nvSpPr>
        <p:spPr>
          <a:xfrm>
            <a:off x="5916168" y="1740922"/>
            <a:ext cx="676656" cy="256032"/>
          </a:xfrm>
          <a:prstGeom prst="rect">
            <a:avLst/>
          </a:prstGeom>
          <a:noFill/>
          <a:ln/>
        </p:spPr>
        <p:txBody>
          <a:bodyPr wrap="square" lIns="0" tIns="0" rIns="0" bIns="0" rtlCol="0" anchor="b"/>
          <a:lstStyle/>
          <a:p>
            <a:pPr algn="ctr" indent="0" marL="0">
              <a:buNone/>
            </a:pPr>
            <a:r>
              <a:rPr lang="en-US" sz="1200" b="1" dirty="0">
                <a:solidFill>
                  <a:schemeClr val="tx1"/>
                </a:solidFill>
              </a:rPr>
              <a:t>1667</a:t>
            </a:r>
            <a:endParaRPr lang="en-US" sz="1200" dirty="0"/>
          </a:p>
        </p:txBody>
      </p:sp>
      <p:sp>
        <p:nvSpPr>
          <p:cNvPr id="29" name="anim:3:fade:mo69"/>
          <p:cNvSpPr txBox="1"/>
          <p:nvPr/>
        </p:nvSpPr>
        <p:spPr>
          <a:xfrm>
            <a:off x="5916168" y="4114800"/>
            <a:ext cx="676656" cy="256032"/>
          </a:xfrm>
          <a:prstGeom prst="rect">
            <a:avLst/>
          </a:prstGeom>
          <a:noFill/>
          <a:ln/>
        </p:spPr>
        <p:txBody>
          <a:bodyPr wrap="square" lIns="0" tIns="0" rIns="0" bIns="0" rtlCol="0" anchor="ctr"/>
          <a:lstStyle/>
          <a:p>
            <a:pPr algn="ctr" indent="0" marL="0">
              <a:buNone/>
            </a:pPr>
            <a:r>
              <a:rPr lang="en-US" sz="1200" dirty="0">
                <a:solidFill>
                  <a:schemeClr val="tx1"/>
                </a:solidFill>
              </a:rPr>
              <a:t>Sep</a:t>
            </a:r>
            <a:endParaRPr lang="en-US" sz="1200" dirty="0"/>
          </a:p>
        </p:txBody>
      </p:sp>
      <p:sp>
        <p:nvSpPr>
          <p:cNvPr id="30" name="anim:4:rise:bar70"/>
          <p:cNvSpPr/>
          <p:nvPr/>
        </p:nvSpPr>
        <p:spPr>
          <a:xfrm>
            <a:off x="6693408" y="1985673"/>
            <a:ext cx="457200" cy="2083407"/>
          </a:xfrm>
          <a:prstGeom prst="rect">
            <a:avLst/>
          </a:prstGeom>
          <a:solidFill>
            <a:schemeClr val="accent4"/>
          </a:solidFill>
          <a:ln w="12700">
            <a:solidFill>
              <a:schemeClr val="accent4"/>
            </a:solidFill>
            <a:prstDash val="solid"/>
          </a:ln>
        </p:spPr>
      </p:sp>
      <p:sp>
        <p:nvSpPr>
          <p:cNvPr id="31" name="anim:4:fade:val71"/>
          <p:cNvSpPr txBox="1"/>
          <p:nvPr/>
        </p:nvSpPr>
        <p:spPr>
          <a:xfrm>
            <a:off x="6583680" y="1711353"/>
            <a:ext cx="676656" cy="256032"/>
          </a:xfrm>
          <a:prstGeom prst="rect">
            <a:avLst/>
          </a:prstGeom>
          <a:noFill/>
          <a:ln/>
        </p:spPr>
        <p:txBody>
          <a:bodyPr wrap="square" lIns="0" tIns="0" rIns="0" bIns="0" rtlCol="0" anchor="b"/>
          <a:lstStyle/>
          <a:p>
            <a:pPr algn="ctr" indent="0" marL="0">
              <a:buNone/>
            </a:pPr>
            <a:r>
              <a:rPr lang="en-US" sz="1200" b="1" dirty="0">
                <a:solidFill>
                  <a:schemeClr val="tx1"/>
                </a:solidFill>
              </a:rPr>
              <a:t>1691</a:t>
            </a:r>
            <a:endParaRPr lang="en-US" sz="1200" dirty="0"/>
          </a:p>
        </p:txBody>
      </p:sp>
      <p:sp>
        <p:nvSpPr>
          <p:cNvPr id="32" name="anim:4:fade:mo72"/>
          <p:cNvSpPr txBox="1"/>
          <p:nvPr/>
        </p:nvSpPr>
        <p:spPr>
          <a:xfrm>
            <a:off x="6583680" y="4114800"/>
            <a:ext cx="676656" cy="256032"/>
          </a:xfrm>
          <a:prstGeom prst="rect">
            <a:avLst/>
          </a:prstGeom>
          <a:noFill/>
          <a:ln/>
        </p:spPr>
        <p:txBody>
          <a:bodyPr wrap="square" lIns="0" tIns="0" rIns="0" bIns="0" rtlCol="0" anchor="ctr"/>
          <a:lstStyle/>
          <a:p>
            <a:pPr algn="ctr" indent="0" marL="0">
              <a:buNone/>
            </a:pPr>
            <a:r>
              <a:rPr lang="en-US" sz="1200" dirty="0">
                <a:solidFill>
                  <a:schemeClr val="tx1"/>
                </a:solidFill>
              </a:rPr>
              <a:t>Oct</a:t>
            </a:r>
            <a:endParaRPr lang="en-US" sz="1200" dirty="0"/>
          </a:p>
        </p:txBody>
      </p:sp>
      <p:sp>
        <p:nvSpPr>
          <p:cNvPr id="33" name="anim:4:rise:bar73"/>
          <p:cNvSpPr/>
          <p:nvPr/>
        </p:nvSpPr>
        <p:spPr>
          <a:xfrm>
            <a:off x="7360920" y="2046044"/>
            <a:ext cx="457200" cy="2023036"/>
          </a:xfrm>
          <a:prstGeom prst="rect">
            <a:avLst/>
          </a:prstGeom>
          <a:solidFill>
            <a:schemeClr val="accent4"/>
          </a:solidFill>
          <a:ln w="12700">
            <a:solidFill>
              <a:schemeClr val="accent4"/>
            </a:solidFill>
            <a:prstDash val="solid"/>
          </a:ln>
        </p:spPr>
      </p:sp>
      <p:sp>
        <p:nvSpPr>
          <p:cNvPr id="34" name="anim:4:fade:val74"/>
          <p:cNvSpPr txBox="1"/>
          <p:nvPr/>
        </p:nvSpPr>
        <p:spPr>
          <a:xfrm>
            <a:off x="7251192" y="1771724"/>
            <a:ext cx="676656" cy="256032"/>
          </a:xfrm>
          <a:prstGeom prst="rect">
            <a:avLst/>
          </a:prstGeom>
          <a:noFill/>
          <a:ln/>
        </p:spPr>
        <p:txBody>
          <a:bodyPr wrap="square" lIns="0" tIns="0" rIns="0" bIns="0" rtlCol="0" anchor="b"/>
          <a:lstStyle/>
          <a:p>
            <a:pPr algn="ctr" indent="0" marL="0">
              <a:buNone/>
            </a:pPr>
            <a:r>
              <a:rPr lang="en-US" sz="1200" b="1" dirty="0">
                <a:solidFill>
                  <a:schemeClr val="tx1"/>
                </a:solidFill>
              </a:rPr>
              <a:t>1642</a:t>
            </a:r>
            <a:endParaRPr lang="en-US" sz="1200" dirty="0"/>
          </a:p>
        </p:txBody>
      </p:sp>
      <p:sp>
        <p:nvSpPr>
          <p:cNvPr id="35" name="anim:4:fade:mo75"/>
          <p:cNvSpPr txBox="1"/>
          <p:nvPr/>
        </p:nvSpPr>
        <p:spPr>
          <a:xfrm>
            <a:off x="7251192" y="4114800"/>
            <a:ext cx="676656" cy="256032"/>
          </a:xfrm>
          <a:prstGeom prst="rect">
            <a:avLst/>
          </a:prstGeom>
          <a:noFill/>
          <a:ln/>
        </p:spPr>
        <p:txBody>
          <a:bodyPr wrap="square" lIns="0" tIns="0" rIns="0" bIns="0" rtlCol="0" anchor="ctr"/>
          <a:lstStyle/>
          <a:p>
            <a:pPr algn="ctr" indent="0" marL="0">
              <a:buNone/>
            </a:pPr>
            <a:r>
              <a:rPr lang="en-US" sz="1200" dirty="0">
                <a:solidFill>
                  <a:schemeClr val="tx1"/>
                </a:solidFill>
              </a:rPr>
              <a:t>Nov</a:t>
            </a:r>
            <a:endParaRPr lang="en-US" sz="1200" dirty="0"/>
          </a:p>
        </p:txBody>
      </p:sp>
      <p:sp>
        <p:nvSpPr>
          <p:cNvPr id="36" name="anim:4:rise:bar76"/>
          <p:cNvSpPr/>
          <p:nvPr/>
        </p:nvSpPr>
        <p:spPr>
          <a:xfrm>
            <a:off x="8028432" y="2041115"/>
            <a:ext cx="457200" cy="2027965"/>
          </a:xfrm>
          <a:prstGeom prst="rect">
            <a:avLst/>
          </a:prstGeom>
          <a:solidFill>
            <a:schemeClr val="accent4"/>
          </a:solidFill>
          <a:ln w="12700">
            <a:solidFill>
              <a:schemeClr val="accent4"/>
            </a:solidFill>
            <a:prstDash val="solid"/>
          </a:ln>
        </p:spPr>
      </p:sp>
      <p:sp>
        <p:nvSpPr>
          <p:cNvPr id="37" name="anim:4:fade:val77"/>
          <p:cNvSpPr txBox="1"/>
          <p:nvPr/>
        </p:nvSpPr>
        <p:spPr>
          <a:xfrm>
            <a:off x="7918704" y="1766795"/>
            <a:ext cx="676656" cy="256032"/>
          </a:xfrm>
          <a:prstGeom prst="rect">
            <a:avLst/>
          </a:prstGeom>
          <a:noFill/>
          <a:ln/>
        </p:spPr>
        <p:txBody>
          <a:bodyPr wrap="square" lIns="0" tIns="0" rIns="0" bIns="0" rtlCol="0" anchor="b"/>
          <a:lstStyle/>
          <a:p>
            <a:pPr algn="ctr" indent="0" marL="0">
              <a:buNone/>
            </a:pPr>
            <a:r>
              <a:rPr lang="en-US" sz="1200" b="1" dirty="0">
                <a:solidFill>
                  <a:schemeClr val="tx1"/>
                </a:solidFill>
              </a:rPr>
              <a:t>1646</a:t>
            </a:r>
            <a:endParaRPr lang="en-US" sz="1200" dirty="0"/>
          </a:p>
        </p:txBody>
      </p:sp>
      <p:sp>
        <p:nvSpPr>
          <p:cNvPr id="38" name="anim:4:fade:mo78"/>
          <p:cNvSpPr txBox="1"/>
          <p:nvPr/>
        </p:nvSpPr>
        <p:spPr>
          <a:xfrm>
            <a:off x="7918704" y="4114800"/>
            <a:ext cx="676656" cy="256032"/>
          </a:xfrm>
          <a:prstGeom prst="rect">
            <a:avLst/>
          </a:prstGeom>
          <a:noFill/>
          <a:ln/>
        </p:spPr>
        <p:txBody>
          <a:bodyPr wrap="square" lIns="0" tIns="0" rIns="0" bIns="0" rtlCol="0" anchor="ctr"/>
          <a:lstStyle/>
          <a:p>
            <a:pPr algn="ctr" indent="0" marL="0">
              <a:buNone/>
            </a:pPr>
            <a:r>
              <a:rPr lang="en-US" sz="1200" dirty="0">
                <a:solidFill>
                  <a:schemeClr val="tx1"/>
                </a:solidFill>
              </a:rPr>
              <a:t>Dec</a:t>
            </a:r>
            <a:endParaRPr lang="en-US" sz="1200" dirty="0"/>
          </a:p>
        </p:txBody>
      </p:sp>
      <p:sp>
        <p:nvSpPr>
          <p:cNvPr id="39" name="anim:5:fade:legend79"/>
          <p:cNvSpPr txBox="1"/>
          <p:nvPr/>
        </p:nvSpPr>
        <p:spPr>
          <a:xfrm>
            <a:off x="457200" y="1051560"/>
            <a:ext cx="8229600" cy="365760"/>
          </a:xfrm>
          <a:prstGeom prst="rect">
            <a:avLst/>
          </a:prstGeom>
          <a:noFill/>
          <a:ln/>
        </p:spPr>
        <p:txBody>
          <a:bodyPr wrap="square" lIns="0" tIns="0" rIns="0" bIns="0" rtlCol="0" anchor="ctr"/>
          <a:lstStyle/>
          <a:p>
            <a:pPr indent="0" marL="0">
              <a:buNone/>
            </a:pPr>
            <a:r>
              <a:rPr lang="en-US" sz="1600" b="1" dirty="0">
                <a:solidFill>
                  <a:schemeClr val="accent1"/>
                </a:solidFill>
              </a:rPr>
              <a:t>Peak </a:t>
            </a:r>
            <a:pPr indent="0" marL="0">
              <a:buNone/>
            </a:pPr>
            <a:r>
              <a:rPr lang="en-US" sz="1600" dirty="0">
                <a:solidFill>
                  <a:schemeClr val="tx1"/>
                </a:solidFill>
              </a:rPr>
              <a:t>May 1,707K     </a:t>
            </a:r>
            <a:pPr indent="0" marL="0">
              <a:buNone/>
            </a:pPr>
            <a:r>
              <a:rPr lang="en-US" sz="1600" b="1" dirty="0">
                <a:solidFill>
                  <a:schemeClr val="accent6"/>
                </a:solidFill>
              </a:rPr>
              <a:t>Low </a:t>
            </a:r>
            <a:pPr indent="0" marL="0">
              <a:buNone/>
            </a:pPr>
            <a:r>
              <a:rPr lang="en-US" sz="1600" dirty="0">
                <a:solidFill>
                  <a:schemeClr val="tx1"/>
                </a:solidFill>
              </a:rPr>
              <a:t>Aug 1,599K     </a:t>
            </a:r>
            <a:pPr indent="0" marL="0">
              <a:buNone/>
            </a:pPr>
            <a:r>
              <a:rPr lang="en-US" sz="1600" b="1" dirty="0">
                <a:solidFill>
                  <a:schemeClr val="tx1"/>
                </a:solidFill>
              </a:rPr>
              <a:t>Gap between them: about 7%</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down)">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down)">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par>
                          <p:cTn id="32" fill="hold">
                            <p:stCondLst>
                              <p:cond delay="450"/>
                            </p:stCondLst>
                            <p:childTnLst>
                              <p:par>
                                <p:cTn id="33" presetID="22" presetClass="entr" presetSubtype="4"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down)">
                                      <p:cBhvr>
                                        <p:cTn id="35" dur="50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down)">
                                      <p:cBhvr>
                                        <p:cTn id="44" dur="50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wipe(down)">
                                      <p:cBhvr>
                                        <p:cTn id="53" dur="500"/>
                                        <p:tgtEl>
                                          <p:spTgt spid="1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childTnLst>
                          </p:cTn>
                        </p:par>
                        <p:par>
                          <p:cTn id="60" fill="hold">
                            <p:stCondLst>
                              <p:cond delay="900"/>
                            </p:stCondLst>
                            <p:childTnLst>
                              <p:par>
                                <p:cTn id="61" presetID="22" presetClass="entr" presetSubtype="4" fill="hold" grpId="0" nodeType="after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wipe(down)">
                                      <p:cBhvr>
                                        <p:cTn id="63" dur="5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par>
                                <p:cTn id="70" presetID="22" presetClass="entr" presetSubtype="4"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wipe(down)">
                                      <p:cBhvr>
                                        <p:cTn id="72" dur="500"/>
                                        <p:tgtEl>
                                          <p:spTgt spid="2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par>
                                <p:cTn id="79" presetID="22" presetClass="entr" presetSubtype="4"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wipe(down)">
                                      <p:cBhvr>
                                        <p:cTn id="81" dur="5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5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500"/>
                                        <p:tgtEl>
                                          <p:spTgt spid="29"/>
                                        </p:tgtEl>
                                      </p:cBhvr>
                                    </p:animEffect>
                                  </p:childTnLst>
                                </p:cTn>
                              </p:par>
                            </p:childTnLst>
                          </p:cTn>
                        </p:par>
                        <p:par>
                          <p:cTn id="88" fill="hold">
                            <p:stCondLst>
                              <p:cond delay="1350"/>
                            </p:stCondLst>
                            <p:childTnLst>
                              <p:par>
                                <p:cTn id="89" presetID="22" presetClass="entr" presetSubtype="4" fill="hold" grpId="0" nodeType="after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wipe(down)">
                                      <p:cBhvr>
                                        <p:cTn id="91" dur="500"/>
                                        <p:tgtEl>
                                          <p:spTgt spid="3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500"/>
                                        <p:tgtEl>
                                          <p:spTgt spid="31"/>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500"/>
                                        <p:tgtEl>
                                          <p:spTgt spid="32"/>
                                        </p:tgtEl>
                                      </p:cBhvr>
                                    </p:animEffect>
                                  </p:childTnLst>
                                </p:cTn>
                              </p:par>
                              <p:par>
                                <p:cTn id="98" presetID="22" presetClass="entr" presetSubtype="4" fill="hold" grpId="0" nodeType="with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wipe(down)">
                                      <p:cBhvr>
                                        <p:cTn id="100" dur="500"/>
                                        <p:tgtEl>
                                          <p:spTgt spid="3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500"/>
                                        <p:tgtEl>
                                          <p:spTgt spid="3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500"/>
                                        <p:tgtEl>
                                          <p:spTgt spid="35"/>
                                        </p:tgtEl>
                                      </p:cBhvr>
                                    </p:animEffect>
                                  </p:childTnLst>
                                </p:cTn>
                              </p:par>
                              <p:par>
                                <p:cTn id="107" presetID="22" presetClass="entr" presetSubtype="4" fill="hold" grpId="0" nodeType="with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wipe(down)">
                                      <p:cBhvr>
                                        <p:cTn id="109" dur="500"/>
                                        <p:tgtEl>
                                          <p:spTgt spid="3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500"/>
                                        <p:tgtEl>
                                          <p:spTgt spid="37"/>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500"/>
                                        <p:tgtEl>
                                          <p:spTgt spid="38"/>
                                        </p:tgtEl>
                                      </p:cBhvr>
                                    </p:animEffect>
                                  </p:childTnLst>
                                </p:cTn>
                              </p:par>
                            </p:childTnLst>
                          </p:cTn>
                        </p:par>
                        <p:par>
                          <p:cTn id="116" fill="hold">
                            <p:stCondLst>
                              <p:cond delay="1800"/>
                            </p:stCondLst>
                            <p:childTnLst>
                              <p:par>
                                <p:cTn id="117" presetID="10" presetClass="entr" presetSubtype="0" fill="hold" grpId="0" nodeType="afterEffect">
                                  <p:stCondLst>
                                    <p:cond delay="0"/>
                                  </p:stCondLst>
                                  <p:childTnLst>
                                    <p:set>
                                      <p:cBhvr>
                                        <p:cTn id="118" dur="1" fill="hold">
                                          <p:stCondLst>
                                            <p:cond delay="0"/>
                                          </p:stCondLst>
                                        </p:cTn>
                                        <p:tgtEl>
                                          <p:spTgt spid="39"/>
                                        </p:tgtEl>
                                        <p:attrNameLst>
                                          <p:attrName>style.visibility</p:attrName>
                                        </p:attrNameLst>
                                      </p:cBhvr>
                                      <p:to>
                                        <p:strVal val="visible"/>
                                      </p:to>
                                    </p:set>
                                    <p:animEffect transition="in" filter="fade">
                                      <p:cBhvr>
                                        <p:cTn id="119"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City, currency and month table</a:t>
            </a:r>
            <a:endParaRPr lang="en-US" sz="3200" dirty="0"/>
          </a:p>
        </p:txBody>
      </p:sp>
      <p:sp>
        <p:nvSpPr>
          <p:cNvPr id="3" name="anim:1:wipe:table80-frame"/>
          <p:cNvSpPr/>
          <p:nvPr/>
        </p:nvSpPr>
        <p:spPr>
          <a:xfrm>
            <a:off x="448056" y="1133856"/>
            <a:ext cx="5230368" cy="2058656"/>
          </a:xfrm>
          <a:prstGeom prst="roundRect">
            <a:avLst>
              <a:gd name="adj" fmla="val 2665"/>
            </a:avLst>
          </a:prstGeom>
          <a:solidFill>
            <a:schemeClr val="bg1"/>
          </a:solidFill>
          <a:ln w="12700">
            <a:solidFill>
              <a:schemeClr val="accent5"/>
            </a:solidFill>
            <a:prstDash val="solid"/>
          </a:ln>
          <a:effectLst>
            <a:outerShdw sx="100000" sy="100000" kx="0" ky="0" algn="bl" rotWithShape="0" blurRad="101600" dist="25400" dir="5400000">
              <a:srgbClr val="000000">
                <a:alpha val="15000"/>
              </a:srgbClr>
            </a:outerShdw>
          </a:effectLst>
        </p:spPr>
      </p:sp>
      <p:pic>
        <p:nvPicPr>
          <p:cNvPr id="4" name="anim:1:wipe:table80" descr="anim:1:wipe:table80">    </p:cNvPr>
          <p:cNvPicPr>
            <a:picLocks noChangeAspect="1"/>
          </p:cNvPicPr>
          <p:nvPr/>
        </p:nvPicPr>
        <p:blipFill>
          <a:blip r:embed="rId1"/>
          <a:stretch>
            <a:fillRect/>
          </a:stretch>
        </p:blipFill>
        <p:spPr>
          <a:xfrm>
            <a:off x="502920" y="1188720"/>
            <a:ext cx="5120640" cy="1948928"/>
          </a:xfrm>
          <a:prstGeom prst="rect">
            <a:avLst/>
          </a:prstGeom>
        </p:spPr>
      </p:pic>
      <p:sp>
        <p:nvSpPr>
          <p:cNvPr id="5" name="anim:2:fade:c81"/>
          <p:cNvSpPr/>
          <p:nvPr/>
        </p:nvSpPr>
        <p:spPr>
          <a:xfrm>
            <a:off x="5852160" y="1188720"/>
            <a:ext cx="2834640" cy="1051560"/>
          </a:xfrm>
          <a:prstGeom prst="roundRect">
            <a:avLst>
              <a:gd name="adj" fmla="val 8696"/>
            </a:avLst>
          </a:prstGeom>
          <a:solidFill>
            <a:schemeClr val="bg2"/>
          </a:solidFill>
          <a:ln w="9525">
            <a:solidFill>
              <a:schemeClr val="bg2"/>
            </a:solidFill>
            <a:prstDash val="solid"/>
          </a:ln>
          <a:effectLst>
            <a:outerShdw sx="100000" sy="100000" kx="0" ky="0" algn="bl" rotWithShape="0" blurRad="101600" dist="25400" dir="5400000">
              <a:srgbClr val="000000">
                <a:alpha val="15000"/>
              </a:srgbClr>
            </a:outerShdw>
          </a:effectLst>
        </p:spPr>
      </p:sp>
      <p:sp>
        <p:nvSpPr>
          <p:cNvPr id="6" name="anim:2:fade:t82"/>
          <p:cNvSpPr txBox="1"/>
          <p:nvPr/>
        </p:nvSpPr>
        <p:spPr>
          <a:xfrm>
            <a:off x="5989320" y="1261872"/>
            <a:ext cx="2560320" cy="914400"/>
          </a:xfrm>
          <a:prstGeom prst="rect">
            <a:avLst/>
          </a:prstGeom>
          <a:noFill/>
          <a:ln/>
        </p:spPr>
        <p:txBody>
          <a:bodyPr wrap="square" lIns="0" tIns="0" rIns="0" bIns="0" rtlCol="0" anchor="t"/>
          <a:lstStyle/>
          <a:p>
            <a:pPr indent="0" marL="0">
              <a:buNone/>
            </a:pPr>
            <a:r>
              <a:rPr lang="en-US" sz="1400" b="1" dirty="0">
                <a:solidFill>
                  <a:schemeClr val="accent1"/>
                </a:solidFill>
              </a:rPr>
              <a:t>One currency per city</a:t>
            </a:r>
            <a:endParaRPr lang="en-US" sz="1400" dirty="0"/>
          </a:p>
          <a:p>
            <a:pPr indent="0" marL="0">
              <a:buNone/>
            </a:pPr>
            <a:r>
              <a:rPr lang="en-US" sz="1400" dirty="0">
                <a:solidFill>
                  <a:schemeClr val="tx1"/>
                </a:solidFill>
              </a:rPr>
              <a:t>Bangalore EUR, Delhi USD, Hyderabad GBP, Mumbai INR</a:t>
            </a:r>
            <a:endParaRPr lang="en-US" sz="1400" dirty="0"/>
          </a:p>
        </p:txBody>
      </p:sp>
      <p:sp>
        <p:nvSpPr>
          <p:cNvPr id="7" name="anim:3:fade:c83"/>
          <p:cNvSpPr/>
          <p:nvPr/>
        </p:nvSpPr>
        <p:spPr>
          <a:xfrm>
            <a:off x="5852160" y="2359152"/>
            <a:ext cx="2834640" cy="1051560"/>
          </a:xfrm>
          <a:prstGeom prst="roundRect">
            <a:avLst>
              <a:gd name="adj" fmla="val 8696"/>
            </a:avLst>
          </a:prstGeom>
          <a:solidFill>
            <a:schemeClr val="bg2"/>
          </a:solidFill>
          <a:ln w="9525">
            <a:solidFill>
              <a:schemeClr val="bg2"/>
            </a:solidFill>
            <a:prstDash val="solid"/>
          </a:ln>
          <a:effectLst>
            <a:outerShdw sx="100000" sy="100000" kx="0" ky="0" algn="bl" rotWithShape="0" blurRad="101600" dist="25400" dir="5400000">
              <a:srgbClr val="000000">
                <a:alpha val="15000"/>
              </a:srgbClr>
            </a:outerShdw>
          </a:effectLst>
        </p:spPr>
      </p:sp>
      <p:sp>
        <p:nvSpPr>
          <p:cNvPr id="8" name="anim:3:fade:t84"/>
          <p:cNvSpPr txBox="1"/>
          <p:nvPr/>
        </p:nvSpPr>
        <p:spPr>
          <a:xfrm>
            <a:off x="5989320" y="2432304"/>
            <a:ext cx="2560320" cy="914400"/>
          </a:xfrm>
          <a:prstGeom prst="rect">
            <a:avLst/>
          </a:prstGeom>
          <a:noFill/>
          <a:ln/>
        </p:spPr>
        <p:txBody>
          <a:bodyPr wrap="square" lIns="0" tIns="0" rIns="0" bIns="0" rtlCol="0" anchor="t"/>
          <a:lstStyle/>
          <a:p>
            <a:pPr indent="0" marL="0">
              <a:buNone/>
            </a:pPr>
            <a:r>
              <a:rPr lang="en-US" sz="1400" b="1" dirty="0">
                <a:solidFill>
                  <a:schemeClr val="accent1"/>
                </a:solidFill>
              </a:rPr>
              <a:t>One city per month</a:t>
            </a:r>
            <a:endParaRPr lang="en-US" sz="1400" dirty="0"/>
          </a:p>
          <a:p>
            <a:pPr indent="0" marL="0">
              <a:buNone/>
            </a:pPr>
            <a:r>
              <a:rPr lang="en-US" sz="1400" dirty="0">
                <a:solidFill>
                  <a:schemeClr val="tx1"/>
                </a:solidFill>
              </a:rPr>
              <a:t>Mumbai, Delhi, Bangalore and Hyderabad take turns each month</a:t>
            </a:r>
            <a:endParaRPr lang="en-US" sz="1400" dirty="0"/>
          </a:p>
        </p:txBody>
      </p:sp>
      <p:sp>
        <p:nvSpPr>
          <p:cNvPr id="9" name="anim:4:fade:c85"/>
          <p:cNvSpPr/>
          <p:nvPr/>
        </p:nvSpPr>
        <p:spPr>
          <a:xfrm>
            <a:off x="5852160" y="3529584"/>
            <a:ext cx="2834640" cy="1051560"/>
          </a:xfrm>
          <a:prstGeom prst="roundRect">
            <a:avLst>
              <a:gd name="adj" fmla="val 8696"/>
            </a:avLst>
          </a:prstGeom>
          <a:solidFill>
            <a:schemeClr val="bg2"/>
          </a:solidFill>
          <a:ln w="9525">
            <a:solidFill>
              <a:schemeClr val="bg2"/>
            </a:solidFill>
            <a:prstDash val="solid"/>
          </a:ln>
          <a:effectLst>
            <a:outerShdw sx="100000" sy="100000" kx="0" ky="0" algn="bl" rotWithShape="0" blurRad="101600" dist="25400" dir="5400000">
              <a:srgbClr val="000000">
                <a:alpha val="15000"/>
              </a:srgbClr>
            </a:outerShdw>
          </a:effectLst>
        </p:spPr>
      </p:sp>
      <p:sp>
        <p:nvSpPr>
          <p:cNvPr id="10" name="anim:4:fade:t86"/>
          <p:cNvSpPr txBox="1"/>
          <p:nvPr/>
        </p:nvSpPr>
        <p:spPr>
          <a:xfrm>
            <a:off x="5989320" y="3602736"/>
            <a:ext cx="2560320" cy="914400"/>
          </a:xfrm>
          <a:prstGeom prst="rect">
            <a:avLst/>
          </a:prstGeom>
          <a:noFill/>
          <a:ln/>
        </p:spPr>
        <p:txBody>
          <a:bodyPr wrap="square" lIns="0" tIns="0" rIns="0" bIns="0" rtlCol="0" anchor="t"/>
          <a:lstStyle/>
          <a:p>
            <a:pPr indent="0" marL="0">
              <a:buNone/>
            </a:pPr>
            <a:r>
              <a:rPr lang="en-US" sz="1400" b="1" dirty="0">
                <a:solidFill>
                  <a:schemeClr val="accent1"/>
                </a:solidFill>
              </a:rPr>
              <a:t>Highlights</a:t>
            </a:r>
            <a:endParaRPr lang="en-US" sz="1400" dirty="0"/>
          </a:p>
          <a:p>
            <a:pPr indent="0" marL="0">
              <a:buNone/>
            </a:pPr>
            <a:r>
              <a:rPr lang="en-US" sz="1400" dirty="0">
                <a:solidFill>
                  <a:schemeClr val="tx1"/>
                </a:solidFill>
              </a:rPr>
              <a:t>May (Mumbai) has the top amount, 1.71M; June (Delhi) the top balance, 8.54M</a:t>
            </a:r>
            <a:endParaRPr lang="en-US" sz="1400" dirty="0"/>
          </a:p>
        </p:txBody>
      </p:sp>
      <p:sp>
        <p:nvSpPr>
          <p:cNvPr id="11" name="anim:5:fade:cap87"/>
          <p:cNvSpPr/>
          <p:nvPr/>
        </p:nvSpPr>
        <p:spPr>
          <a:xfrm>
            <a:off x="457200" y="3657600"/>
            <a:ext cx="5212080" cy="960120"/>
          </a:xfrm>
          <a:prstGeom prst="roundRect">
            <a:avLst>
              <a:gd name="adj" fmla="val 9524"/>
            </a:avLst>
          </a:prstGeom>
          <a:solidFill>
            <a:schemeClr val="tx1"/>
          </a:solidFill>
          <a:ln w="9525">
            <a:solidFill>
              <a:schemeClr val="tx1"/>
            </a:solidFill>
            <a:prstDash val="solid"/>
          </a:ln>
        </p:spPr>
      </p:sp>
      <p:sp>
        <p:nvSpPr>
          <p:cNvPr id="12" name="anim:5:fade:captxt88"/>
          <p:cNvSpPr txBox="1"/>
          <p:nvPr/>
        </p:nvSpPr>
        <p:spPr>
          <a:xfrm>
            <a:off x="640080" y="3657600"/>
            <a:ext cx="4846320" cy="960120"/>
          </a:xfrm>
          <a:prstGeom prst="rect">
            <a:avLst/>
          </a:prstGeom>
          <a:noFill/>
          <a:ln/>
        </p:spPr>
        <p:txBody>
          <a:bodyPr wrap="square" lIns="0" tIns="0" rIns="0" bIns="0" rtlCol="0" anchor="ctr"/>
          <a:lstStyle/>
          <a:p>
            <a:pPr indent="0" marL="0">
              <a:buNone/>
            </a:pPr>
            <a:r>
              <a:rPr lang="en-US" sz="1400" b="1" dirty="0">
                <a:solidFill>
                  <a:schemeClr val="bg1"/>
                </a:solidFill>
              </a:rPr>
              <a:t>Amount and RemainingBalance for each city and month, shaded darker for larger values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transition spd="med">
    <p:cover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childTnLst>
                          </p:cTn>
                        </p:par>
                        <p:par>
                          <p:cTn id="11" fill="hold">
                            <p:stCondLst>
                              <p:cond delay="45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par>
                          <p:cTn id="18" fill="hold">
                            <p:stCondLst>
                              <p:cond delay="900"/>
                            </p:stCondLst>
                            <p:childTnLst>
                              <p:par>
                                <p:cTn id="19" presetID="10" presetClass="entr" presetSubtype="0"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par>
                          <p:cTn id="25" fill="hold">
                            <p:stCondLst>
                              <p:cond delay="1350"/>
                            </p:stCondLst>
                            <p:childTnLst>
                              <p:par>
                                <p:cTn id="26" presetID="10" presetClass="entr" presetSubtype="0"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par>
                          <p:cTn id="32" fill="hold">
                            <p:stCondLst>
                              <p:cond delay="1800"/>
                            </p:stCondLst>
                            <p:childTnLst>
                              <p:par>
                                <p:cTn id="33" presetID="10" presetClass="entr" presetSubtype="0" fill="hold" grpId="0"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0" grpId="0" animBg="1"/>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anim:1:fade:h89"/>
          <p:cNvSpPr txBox="1"/>
          <p:nvPr/>
        </p:nvSpPr>
        <p:spPr>
          <a:xfrm>
            <a:off x="548640" y="640080"/>
            <a:ext cx="3291840" cy="10972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Key takeaways</a:t>
            </a:r>
            <a:endParaRPr lang="en-US" sz="3600" dirty="0"/>
          </a:p>
        </p:txBody>
      </p:sp>
      <p:sp>
        <p:nvSpPr>
          <p:cNvPr id="3" name="anim:6:fade:ty90"/>
          <p:cNvSpPr txBox="1"/>
          <p:nvPr/>
        </p:nvSpPr>
        <p:spPr>
          <a:xfrm>
            <a:off x="548640" y="3931920"/>
            <a:ext cx="3291840" cy="457200"/>
          </a:xfrm>
          <a:prstGeom prst="rect">
            <a:avLst/>
          </a:prstGeom>
          <a:noFill/>
          <a:ln/>
        </p:spPr>
        <p:txBody>
          <a:bodyPr wrap="square" lIns="0" tIns="0" rIns="0" bIns="0" rtlCol="0" anchor="ctr"/>
          <a:lstStyle/>
          <a:p>
            <a:pPr indent="0" marL="0">
              <a:buNone/>
            </a:pPr>
            <a:r>
              <a:rPr lang="en-US" sz="2000" dirty="0">
                <a:solidFill>
                  <a:schemeClr val="accent5"/>
                </a:solidFill>
              </a:rPr>
              <a:t>Thank you</a:t>
            </a:r>
            <a:endParaRPr lang="en-US" sz="2000" dirty="0"/>
          </a:p>
        </p:txBody>
      </p:sp>
      <p:sp>
        <p:nvSpPr>
          <p:cNvPr id="4" name="anim:2:fade:kc91"/>
          <p:cNvSpPr/>
          <p:nvPr/>
        </p:nvSpPr>
        <p:spPr>
          <a:xfrm>
            <a:off x="4206240" y="640080"/>
            <a:ext cx="4480560" cy="868680"/>
          </a:xfrm>
          <a:prstGeom prst="roundRect">
            <a:avLst>
              <a:gd name="adj" fmla="val 10526"/>
            </a:avLst>
          </a:prstGeom>
          <a:solidFill>
            <a:schemeClr val="tx2"/>
          </a:solidFill>
          <a:ln w="12700">
            <a:solidFill>
              <a:schemeClr val="tx2"/>
            </a:solidFill>
            <a:prstDash val="solid"/>
          </a:ln>
        </p:spPr>
      </p:sp>
      <p:sp>
        <p:nvSpPr>
          <p:cNvPr id="5" name="anim:2:fade:kn92"/>
          <p:cNvSpPr txBox="1"/>
          <p:nvPr/>
        </p:nvSpPr>
        <p:spPr>
          <a:xfrm>
            <a:off x="4389120" y="877824"/>
            <a:ext cx="384048" cy="384048"/>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anim:2:fade:kt93"/>
          <p:cNvSpPr txBox="1"/>
          <p:nvPr/>
        </p:nvSpPr>
        <p:spPr>
          <a:xfrm>
            <a:off x="4937760" y="640080"/>
            <a:ext cx="3611880" cy="868680"/>
          </a:xfrm>
          <a:prstGeom prst="rect">
            <a:avLst/>
          </a:prstGeom>
          <a:noFill/>
          <a:ln/>
        </p:spPr>
        <p:txBody>
          <a:bodyPr wrap="square" lIns="0" tIns="0" rIns="0" bIns="0" rtlCol="0" anchor="ctr"/>
          <a:lstStyle/>
          <a:p>
            <a:pPr indent="0" marL="0">
              <a:buNone/>
            </a:pPr>
            <a:r>
              <a:rPr lang="en-US" sz="1400" dirty="0">
                <a:solidFill>
                  <a:schemeClr val="bg1"/>
                </a:solidFill>
              </a:rPr>
              <a:t>Monthly totals stay between 1,599K and 1,707K</a:t>
            </a:r>
            <a:endParaRPr lang="en-US" sz="1400" dirty="0"/>
          </a:p>
        </p:txBody>
      </p:sp>
      <p:sp>
        <p:nvSpPr>
          <p:cNvPr id="7" name="anim:3:fade:kc94"/>
          <p:cNvSpPr/>
          <p:nvPr/>
        </p:nvSpPr>
        <p:spPr>
          <a:xfrm>
            <a:off x="4206240" y="1645920"/>
            <a:ext cx="4480560" cy="868680"/>
          </a:xfrm>
          <a:prstGeom prst="roundRect">
            <a:avLst>
              <a:gd name="adj" fmla="val 10526"/>
            </a:avLst>
          </a:prstGeom>
          <a:solidFill>
            <a:schemeClr val="tx2"/>
          </a:solidFill>
          <a:ln w="12700">
            <a:solidFill>
              <a:schemeClr val="tx2"/>
            </a:solidFill>
            <a:prstDash val="solid"/>
          </a:ln>
        </p:spPr>
      </p:sp>
      <p:sp>
        <p:nvSpPr>
          <p:cNvPr id="8" name="anim:3:fade:kn95"/>
          <p:cNvSpPr txBox="1"/>
          <p:nvPr/>
        </p:nvSpPr>
        <p:spPr>
          <a:xfrm>
            <a:off x="4389120" y="1883664"/>
            <a:ext cx="384048" cy="384048"/>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anim:3:fade:kt96"/>
          <p:cNvSpPr txBox="1"/>
          <p:nvPr/>
        </p:nvSpPr>
        <p:spPr>
          <a:xfrm>
            <a:off x="4937760" y="1645920"/>
            <a:ext cx="3611880" cy="868680"/>
          </a:xfrm>
          <a:prstGeom prst="rect">
            <a:avLst/>
          </a:prstGeom>
          <a:noFill/>
          <a:ln/>
        </p:spPr>
        <p:txBody>
          <a:bodyPr wrap="square" lIns="0" tIns="0" rIns="0" bIns="0" rtlCol="0" anchor="ctr"/>
          <a:lstStyle/>
          <a:p>
            <a:pPr indent="0" marL="0">
              <a:buNone/>
            </a:pPr>
            <a:r>
              <a:rPr lang="en-US" sz="1400" dirty="0">
                <a:solidFill>
                  <a:schemeClr val="bg1"/>
                </a:solidFill>
              </a:rPr>
              <a:t>80% of the 20,000 transactions succeed</a:t>
            </a:r>
            <a:endParaRPr lang="en-US" sz="1400" dirty="0"/>
          </a:p>
        </p:txBody>
      </p:sp>
      <p:sp>
        <p:nvSpPr>
          <p:cNvPr id="10" name="anim:4:fade:kc97"/>
          <p:cNvSpPr/>
          <p:nvPr/>
        </p:nvSpPr>
        <p:spPr>
          <a:xfrm>
            <a:off x="4206240" y="2651760"/>
            <a:ext cx="4480560" cy="868680"/>
          </a:xfrm>
          <a:prstGeom prst="roundRect">
            <a:avLst>
              <a:gd name="adj" fmla="val 10526"/>
            </a:avLst>
          </a:prstGeom>
          <a:solidFill>
            <a:schemeClr val="tx2"/>
          </a:solidFill>
          <a:ln w="12700">
            <a:solidFill>
              <a:schemeClr val="tx2"/>
            </a:solidFill>
            <a:prstDash val="solid"/>
          </a:ln>
        </p:spPr>
      </p:sp>
      <p:sp>
        <p:nvSpPr>
          <p:cNvPr id="11" name="anim:4:fade:kn98"/>
          <p:cNvSpPr txBox="1"/>
          <p:nvPr/>
        </p:nvSpPr>
        <p:spPr>
          <a:xfrm>
            <a:off x="4389120" y="2889504"/>
            <a:ext cx="384048" cy="384048"/>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anim:4:fade:kt99"/>
          <p:cNvSpPr txBox="1"/>
          <p:nvPr/>
        </p:nvSpPr>
        <p:spPr>
          <a:xfrm>
            <a:off x="4937760" y="2651760"/>
            <a:ext cx="3611880" cy="868680"/>
          </a:xfrm>
          <a:prstGeom prst="rect">
            <a:avLst/>
          </a:prstGeom>
          <a:noFill/>
          <a:ln/>
        </p:spPr>
        <p:txBody>
          <a:bodyPr wrap="square" lIns="0" tIns="0" rIns="0" bIns="0" rtlCol="0" anchor="ctr"/>
          <a:lstStyle/>
          <a:p>
            <a:pPr indent="0" marL="0">
              <a:buNone/>
            </a:pPr>
            <a:r>
              <a:rPr lang="en-US" sz="1400" dirty="0">
                <a:solidFill>
                  <a:schemeClr val="bg1"/>
                </a:solidFill>
              </a:rPr>
              <a:t>Ten slicers cut the data by bank, city, device, age and more</a:t>
            </a:r>
            <a:endParaRPr lang="en-US" sz="1400" dirty="0"/>
          </a:p>
        </p:txBody>
      </p:sp>
      <p:sp>
        <p:nvSpPr>
          <p:cNvPr id="13" name="anim:5:fade:kc100"/>
          <p:cNvSpPr/>
          <p:nvPr/>
        </p:nvSpPr>
        <p:spPr>
          <a:xfrm>
            <a:off x="4206240" y="3657600"/>
            <a:ext cx="4480560" cy="868680"/>
          </a:xfrm>
          <a:prstGeom prst="roundRect">
            <a:avLst>
              <a:gd name="adj" fmla="val 10526"/>
            </a:avLst>
          </a:prstGeom>
          <a:solidFill>
            <a:schemeClr val="tx2"/>
          </a:solidFill>
          <a:ln w="12700">
            <a:solidFill>
              <a:schemeClr val="tx2"/>
            </a:solidFill>
            <a:prstDash val="solid"/>
          </a:ln>
        </p:spPr>
      </p:sp>
      <p:sp>
        <p:nvSpPr>
          <p:cNvPr id="14" name="anim:5:fade:kn101"/>
          <p:cNvSpPr txBox="1"/>
          <p:nvPr/>
        </p:nvSpPr>
        <p:spPr>
          <a:xfrm>
            <a:off x="4389120" y="3895344"/>
            <a:ext cx="384048" cy="384048"/>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5" name="anim:5:fade:kt102"/>
          <p:cNvSpPr txBox="1"/>
          <p:nvPr/>
        </p:nvSpPr>
        <p:spPr>
          <a:xfrm>
            <a:off x="4937760" y="3657600"/>
            <a:ext cx="3611880" cy="868680"/>
          </a:xfrm>
          <a:prstGeom prst="rect">
            <a:avLst/>
          </a:prstGeom>
          <a:noFill/>
          <a:ln/>
        </p:spPr>
        <p:txBody>
          <a:bodyPr wrap="square" lIns="0" tIns="0" rIns="0" bIns="0" rtlCol="0" anchor="ctr"/>
          <a:lstStyle/>
          <a:p>
            <a:pPr indent="0" marL="0">
              <a:buNone/>
            </a:pPr>
            <a:r>
              <a:rPr lang="en-US" sz="1400" dirty="0">
                <a:solidFill>
                  <a:schemeClr val="bg1"/>
                </a:solidFill>
              </a:rPr>
              <a:t>City, currency and month table shows amounts and balances together</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45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par>
                          <p:cTn id="18" fill="hold">
                            <p:stCondLst>
                              <p:cond delay="900"/>
                            </p:stCondLst>
                            <p:childTnLst>
                              <p:par>
                                <p:cTn id="19" presetID="10" presetClass="entr" presetSubtype="0"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par>
                          <p:cTn id="28" fill="hold">
                            <p:stCondLst>
                              <p:cond delay="1350"/>
                            </p:stCondLst>
                            <p:childTnLst>
                              <p:par>
                                <p:cTn id="29" presetID="10" presetClass="entr" presetSubtype="0" fill="hold" grpId="0"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par>
                          <p:cTn id="38" fill="hold">
                            <p:stCondLst>
                              <p:cond delay="1800"/>
                            </p:stCondLst>
                            <p:childTnLst>
                              <p:par>
                                <p:cTn id="39" presetID="10" presetClass="entr" presetSubtype="0" fill="hold" grpId="0" nodeType="after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par>
                          <p:cTn id="48" fill="hold">
                            <p:stCondLst>
                              <p:cond delay="2250"/>
                            </p:stCondLst>
                            <p:childTnLst>
                              <p:par>
                                <p:cTn id="49" presetID="10" presetClass="entr" presetSubtype="0" fill="hold" grpId="0" nodeType="afterEffect">
                                  <p:stCondLst>
                                    <p:cond delay="0"/>
                                  </p:stCondLst>
                                  <p:childTnLst>
                                    <p:set>
                                      <p:cBhvr>
                                        <p:cTn id="50" dur="1" fill="hold">
                                          <p:stCondLst>
                                            <p:cond delay="0"/>
                                          </p:stCondLst>
                                        </p:cTn>
                                        <p:tgtEl>
                                          <p:spTgt spid="3"/>
                                        </p:tgtEl>
                                        <p:attrNameLst>
                                          <p:attrName>style.visibility</p:attrName>
                                        </p:attrNameLst>
                                      </p:cBhvr>
                                      <p:to>
                                        <p:strVal val="visible"/>
                                      </p:to>
                                    </p:set>
                                    <p:animEffect transition="in" filter="fade">
                                      <p:cBhvr>
                                        <p:cTn id="5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3" grpId="0" animBg="1"/>
    </p:bldLst>
  </p:timing>
</p:sld>
</file>

<file path=ppt/theme/theme1.xml><?xml version="1.0" encoding="utf-8"?>
<a:theme xmlns:a="http://schemas.openxmlformats.org/drawingml/2006/main" name="UPIAnalysis">
  <a:themeElements>
    <a:clrScheme name="UPIAnalysis">
      <a:dk1>
        <a:srgbClr val="12263F"/>
      </a:dk1>
      <a:lt1>
        <a:srgbClr val="FFFFFF"/>
      </a:lt1>
      <a:dk2>
        <a:srgbClr val="24456B"/>
      </a:dk2>
      <a:lt2>
        <a:srgbClr val="EEF3F9"/>
      </a:lt2>
      <a:accent1>
        <a:srgbClr val="E8791D"/>
      </a:accent1>
      <a:accent2>
        <a:srgbClr val="3F8CE8"/>
      </a:accent2>
      <a:accent3>
        <a:srgbClr val="F2B05E"/>
      </a:accent3>
      <a:accent4>
        <a:srgbClr val="7A5CC7"/>
      </a:accent4>
      <a:accent5>
        <a:srgbClr val="9DB8D9"/>
      </a:accent5>
      <a:accent6>
        <a:srgbClr val="1FA37A"/>
      </a:accent6>
      <a:hlink>
        <a:srgbClr val="3F8CE8"/>
      </a:hlink>
      <a:folHlink>
        <a:srgbClr val="9DB8D9"/>
      </a:folHlink>
    </a:clrScheme>
    <a:fontScheme name="UPIAnalysi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UPI Transaction Analysis Dashboard</dc:title>
  <dc:subject>PptxGenJS Presentation</dc:subject>
  <dc:creator>PptxGenJS</dc:creator>
  <cp:lastModifiedBy>PptxGenJS</cp:lastModifiedBy>
  <cp:revision>1</cp:revision>
  <dcterms:created xsi:type="dcterms:W3CDTF">2026-10-06T21:12:55Z</dcterms:created>
  <dcterms:modified xsi:type="dcterms:W3CDTF">2026-10-06T21:12:55Z</dcterms:modified>
</cp:coreProperties>
</file>